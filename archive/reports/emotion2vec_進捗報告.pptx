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35240" y="-1051560"/>
            <a:ext cx="4754880" cy="4754880"/>
          </a:xfrm>
          <a:prstGeom prst="ellipse">
            <a:avLst/>
          </a:prstGeom>
          <a:solidFill>
            <a:srgbClr val="28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251960"/>
            <a:ext cx="3291840" cy="3291840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600200" cy="310896"/>
          </a:xfrm>
          <a:prstGeom prst="roundRect">
            <a:avLst>
              <a:gd name="adj" fmla="val 20000"/>
            </a:avLst>
          </a:prstGeom>
          <a:solidFill>
            <a:srgbClr val="20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76072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EDDE5"/>
                </a:solidFill>
                <a:latin typeface="Yu Gothic"/>
              </a:rPr>
              <a:t>PROJECT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566928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1">
                <a:solidFill>
                  <a:srgbClr val="FFFFFF"/>
                </a:solidFill>
                <a:latin typeface="Yu Gothic"/>
              </a:rPr>
              <a:t>emotion2vec
進捗報告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670048"/>
            <a:ext cx="5943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FD2E7"/>
                </a:solidFill>
                <a:latin typeface="Yu Gothic"/>
              </a:rPr>
              <a:t>音声から連続的な感情値を推定する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46704"/>
            <a:ext cx="5806440" cy="1344168"/>
          </a:xfrm>
          <a:prstGeom prst="roundRect">
            <a:avLst>
              <a:gd name="adj" fmla="val 8000"/>
            </a:avLst>
          </a:prstGeom>
          <a:solidFill>
            <a:srgbClr val="173353"/>
          </a:solidFill>
          <a:ln w="10160">
            <a:solidFill>
              <a:srgbClr val="2B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75304"/>
            <a:ext cx="685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8D9E4"/>
                </a:solidFill>
                <a:latin typeface="Yu Gothic"/>
              </a:rPr>
              <a:t>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58768"/>
            <a:ext cx="52120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声に含まれる感情の傾向を、
比較・学習できる数値に変える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261872"/>
            <a:ext cx="3886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44383" y="1536192"/>
            <a:ext cx="475488" cy="475488"/>
          </a:xfrm>
          <a:prstGeom prst="ellipse">
            <a:avLst/>
          </a:prstGeom>
          <a:solidFill>
            <a:srgbClr val="28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39"/>
            <a:ext cx="2377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Yu Gothic"/>
              </a:rPr>
              <a:t>Valence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79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C7B"/>
                </a:solidFill>
                <a:latin typeface="Yu Gothic"/>
              </a:rPr>
              <a:t>快い ↔ 不快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615184"/>
            <a:ext cx="3886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44383" y="2889503"/>
            <a:ext cx="475488" cy="475488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16352"/>
            <a:ext cx="2377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Yu Gothic"/>
              </a:rPr>
              <a:t>Arousal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36391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C7B"/>
                </a:solidFill>
                <a:latin typeface="Yu Gothic"/>
              </a:rPr>
              <a:t>活発 ↔ 穏やか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3968496"/>
            <a:ext cx="3886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44383" y="4242816"/>
            <a:ext cx="475488" cy="475488"/>
          </a:xfrm>
          <a:prstGeom prst="ellipse">
            <a:avLst/>
          </a:prstGeom>
          <a:solidFill>
            <a:srgbClr val="E9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69663"/>
            <a:ext cx="2377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43E"/>
                </a:solidFill>
                <a:latin typeface="Yu Gothic"/>
              </a:rPr>
              <a:t>Dominance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9704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C7B"/>
                </a:solidFill>
                <a:latin typeface="Yu Gothic"/>
              </a:rPr>
              <a:t>強い ↔ 控えめ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97312" y="4059935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97312" y="4069079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9B2D"/>
                </a:solidFill>
                <a:latin typeface="Yu Gothic"/>
              </a:rPr>
              <a:t>任意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36208"/>
            <a:ext cx="89611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FC4DA"/>
                </a:solidFill>
                <a:latin typeface="Yu Gothic"/>
              </a:rPr>
              <a:t>現在の焦点：emotion2vecの特徴量に、小さな予測器を追加する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78D0"/>
                </a:solidFill>
                <a:latin typeface="Yu Gothic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Yu Gothic"/>
              </a:rPr>
              <a:t>音声から感情値を出す仕組み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E6C7B"/>
                </a:solidFill>
                <a:latin typeface="Yu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9576"/>
            <a:ext cx="658368" cy="45720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965960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6736" y="2103120"/>
            <a:ext cx="658368" cy="658368"/>
          </a:xfrm>
          <a:prstGeom prst="ellipse">
            <a:avLst/>
          </a:prstGeom>
          <a:solidFill>
            <a:srgbClr val="28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221992"/>
            <a:ext cx="6583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80360"/>
            <a:ext cx="16367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Yu Gothic"/>
              </a:rPr>
              <a:t>WAV音声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27832"/>
            <a:ext cx="17282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E6C7B"/>
                </a:solidFill>
                <a:latin typeface="Yu Gothic"/>
              </a:rPr>
              <a:t>16 kHz・モノラル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19" y="386791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877056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78D0"/>
                </a:solidFill>
                <a:latin typeface="Yu Gothic"/>
              </a:rPr>
              <a:t>音の波</a:t>
            </a:r>
          </a:p>
        </p:txBody>
      </p:sp>
      <p:sp>
        <p:nvSpPr>
          <p:cNvPr id="13" name="Chevron 12"/>
          <p:cNvSpPr/>
          <p:nvPr/>
        </p:nvSpPr>
        <p:spPr>
          <a:xfrm>
            <a:off x="2660904" y="2551176"/>
            <a:ext cx="201168" cy="402336"/>
          </a:xfrm>
          <a:prstGeom prst="chevron">
            <a:avLst/>
          </a:prstGeom>
          <a:solidFill>
            <a:srgbClr val="AAB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8648" y="1874519"/>
            <a:ext cx="1965960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7015" y="2103120"/>
            <a:ext cx="658368" cy="658368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5" y="2221992"/>
            <a:ext cx="6583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880360"/>
            <a:ext cx="16367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Yu Gothic"/>
              </a:rPr>
              <a:t>emotion2vec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227832"/>
            <a:ext cx="17282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E6C7B"/>
                </a:solidFill>
                <a:latin typeface="Yu Gothic"/>
              </a:rPr>
              <a:t>音声の特徴を抽出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86791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877056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0B7C9"/>
                </a:solidFill>
                <a:latin typeface="Yu Gothic"/>
              </a:rPr>
              <a:t>基盤モデル</a:t>
            </a:r>
          </a:p>
        </p:txBody>
      </p:sp>
      <p:sp>
        <p:nvSpPr>
          <p:cNvPr id="21" name="Chevron 20"/>
          <p:cNvSpPr/>
          <p:nvPr/>
        </p:nvSpPr>
        <p:spPr>
          <a:xfrm>
            <a:off x="4901184" y="2551176"/>
            <a:ext cx="201168" cy="402336"/>
          </a:xfrm>
          <a:prstGeom prst="chevron">
            <a:avLst/>
          </a:prstGeom>
          <a:solidFill>
            <a:srgbClr val="AAB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38927" y="1874519"/>
            <a:ext cx="1965960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97295" y="2103120"/>
            <a:ext cx="658368" cy="658368"/>
          </a:xfrm>
          <a:prstGeom prst="ellipse">
            <a:avLst/>
          </a:prstGeom>
          <a:solidFill>
            <a:srgbClr val="28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7295" y="2221992"/>
            <a:ext cx="6583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19" y="2880360"/>
            <a:ext cx="16367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Yu Gothic"/>
              </a:rPr>
              <a:t>フレーム特徴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799" y="3227832"/>
            <a:ext cx="17282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E6C7B"/>
                </a:solidFill>
                <a:latin typeface="Yu Gothic"/>
              </a:rPr>
              <a:t>時間ごとの768個の値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79" y="386791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79" y="3877056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78D0"/>
                </a:solidFill>
                <a:latin typeface="Yu Gothic"/>
              </a:rPr>
              <a:t>特徴量</a:t>
            </a:r>
          </a:p>
        </p:txBody>
      </p:sp>
      <p:sp>
        <p:nvSpPr>
          <p:cNvPr id="29" name="Chevron 28"/>
          <p:cNvSpPr/>
          <p:nvPr/>
        </p:nvSpPr>
        <p:spPr>
          <a:xfrm>
            <a:off x="7141464" y="2551176"/>
            <a:ext cx="201168" cy="402336"/>
          </a:xfrm>
          <a:prstGeom prst="chevron">
            <a:avLst/>
          </a:prstGeom>
          <a:solidFill>
            <a:srgbClr val="AAB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79208" y="1874519"/>
            <a:ext cx="1965960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37576" y="2103120"/>
            <a:ext cx="658368" cy="658368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6" y="2221992"/>
            <a:ext cx="6583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880360"/>
            <a:ext cx="16367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Yu Gothic"/>
              </a:rPr>
              <a:t>発話に要約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3227832"/>
            <a:ext cx="17282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E6C7B"/>
                </a:solidFill>
                <a:latin typeface="Yu Gothic"/>
              </a:rPr>
              <a:t>無音の埋め草を除外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386791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3877056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0B7C9"/>
                </a:solidFill>
                <a:latin typeface="Yu Gothic"/>
              </a:rPr>
              <a:t>平均化</a:t>
            </a:r>
          </a:p>
        </p:txBody>
      </p:sp>
      <p:sp>
        <p:nvSpPr>
          <p:cNvPr id="37" name="Chevron 36"/>
          <p:cNvSpPr/>
          <p:nvPr/>
        </p:nvSpPr>
        <p:spPr>
          <a:xfrm>
            <a:off x="9381744" y="2551176"/>
            <a:ext cx="201168" cy="402336"/>
          </a:xfrm>
          <a:prstGeom prst="chevron">
            <a:avLst/>
          </a:prstGeom>
          <a:solidFill>
            <a:srgbClr val="AAB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19488" y="1874519"/>
            <a:ext cx="1965960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77856" y="2103120"/>
            <a:ext cx="658368" cy="658368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77856" y="2221992"/>
            <a:ext cx="6583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2880360"/>
            <a:ext cx="163677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243E"/>
                </a:solidFill>
                <a:latin typeface="Yu Gothic"/>
              </a:rPr>
              <a:t>予測器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3227832"/>
            <a:ext cx="17282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E6C7B"/>
                </a:solidFill>
                <a:latin typeface="Yu Gothic"/>
              </a:rPr>
              <a:t>VA / VADを回帰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386791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3877056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2A06B"/>
                </a:solidFill>
                <a:latin typeface="Yu Gothic"/>
              </a:rPr>
              <a:t>小型モデル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1720" y="4526280"/>
            <a:ext cx="7498079" cy="1115568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0160"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15184" y="4736592"/>
            <a:ext cx="594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1DDE6"/>
                </a:solidFill>
                <a:latin typeface="Yu Gothic"/>
              </a:rPr>
              <a:t>出力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4727448"/>
            <a:ext cx="6080760" cy="3291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Yu Gothic"/>
              </a:rPr>
              <a:t>Valence  </a:t>
            </a:r>
            <a:r>
              <a:rPr sz="1800" b="0">
                <a:solidFill>
                  <a:srgbClr val="7088A1"/>
                </a:solidFill>
                <a:latin typeface="Yu Gothic"/>
              </a:rPr>
              <a:t>・  </a:t>
            </a:r>
            <a:r>
              <a:rPr sz="1800" b="1">
                <a:solidFill>
                  <a:srgbClr val="FFFFFF"/>
                </a:solidFill>
                <a:latin typeface="Yu Gothic"/>
              </a:rPr>
              <a:t>Arousal  </a:t>
            </a:r>
            <a:r>
              <a:rPr sz="1800" b="0">
                <a:solidFill>
                  <a:srgbClr val="7088A1"/>
                </a:solidFill>
                <a:latin typeface="Yu Gothic"/>
              </a:rPr>
              <a:t>・  </a:t>
            </a:r>
            <a:r>
              <a:rPr sz="1800" b="1">
                <a:solidFill>
                  <a:srgbClr val="FFFFFF"/>
                </a:solidFill>
                <a:latin typeface="Yu Gothic"/>
              </a:rPr>
              <a:t>Dominance（任意）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6704" y="5138928"/>
            <a:ext cx="3657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FD2E7"/>
                </a:solidFill>
                <a:latin typeface="Yu Gothic"/>
              </a:rPr>
              <a:t>各値は -1〜1 の範囲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6519672"/>
            <a:ext cx="10881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C7B"/>
                </a:solidFill>
                <a:latin typeface="Yu Gothic"/>
              </a:rPr>
              <a:t>処理経路は実装済み。実モデルの重みを使った疎通確認は未完了。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78D0"/>
                </a:solidFill>
                <a:latin typeface="Yu Gothic"/>
              </a:rPr>
              <a:t>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Yu Gothic"/>
              </a:rPr>
              <a:t>実装した機能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E6C7B"/>
                </a:solidFill>
                <a:latin typeface="Yu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9576"/>
            <a:ext cx="658368" cy="45720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21808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1783080"/>
            <a:ext cx="585216" cy="1444752"/>
          </a:xfrm>
          <a:prstGeom prst="roundRect">
            <a:avLst>
              <a:gd name="adj" fmla="val 15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65960"/>
            <a:ext cx="585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878D0"/>
                </a:solidFill>
                <a:latin typeface="Yu Gothic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978407" y="2596896"/>
            <a:ext cx="347472" cy="347472"/>
          </a:xfrm>
          <a:prstGeom prst="ellipse">
            <a:avLst/>
          </a:prstGeom>
          <a:solidFill>
            <a:srgbClr val="28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33472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28800"/>
            <a:ext cx="3840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43E"/>
                </a:solidFill>
                <a:latin typeface="Yu Gothic"/>
              </a:rPr>
              <a:t>データ読み込み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2304288"/>
            <a:ext cx="3886200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特徴量・長さ・正解ラベルを読み込み、件数や範囲の不整合を検出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962656"/>
            <a:ext cx="987552" cy="310896"/>
          </a:xfrm>
          <a:prstGeom prst="roundRect">
            <a:avLst>
              <a:gd name="adj" fmla="val 20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71800"/>
            <a:ext cx="98755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78D0"/>
                </a:solidFill>
                <a:latin typeface="Yu Gothic"/>
              </a:rPr>
              <a:t>実装済み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554480"/>
            <a:ext cx="5321808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585216" cy="1444752"/>
          </a:xfrm>
          <a:prstGeom prst="roundRect">
            <a:avLst>
              <a:gd name="adj" fmla="val 15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585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0B7C9"/>
                </a:solidFill>
                <a:latin typeface="Yu Gothic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6519672" y="2596896"/>
            <a:ext cx="347472" cy="347472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633472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828800"/>
            <a:ext cx="3840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43E"/>
                </a:solidFill>
                <a:latin typeface="Yu Gothic"/>
              </a:rPr>
              <a:t>感情値の予測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304288"/>
            <a:ext cx="3886200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長さの違う音声をまとめて扱い、VAまたはVADの値を出力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58984" y="2962656"/>
            <a:ext cx="987552" cy="310896"/>
          </a:xfrm>
          <a:prstGeom prst="roundRect">
            <a:avLst>
              <a:gd name="adj" fmla="val 20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58984" y="2971800"/>
            <a:ext cx="98755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0B7C9"/>
                </a:solidFill>
                <a:latin typeface="Yu Gothic"/>
              </a:rPr>
              <a:t>実装済み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321808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" y="4069080"/>
            <a:ext cx="585216" cy="1444752"/>
          </a:xfrm>
          <a:prstGeom prst="roundRect">
            <a:avLst>
              <a:gd name="adj" fmla="val 15000"/>
            </a:avLst>
          </a:prstGeom>
          <a:solidFill>
            <a:srgbClr val="E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251960"/>
            <a:ext cx="585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2A06B"/>
                </a:solidFill>
                <a:latin typeface="Yu Gothic"/>
              </a:rPr>
              <a:t>03</a:t>
            </a:r>
          </a:p>
        </p:txBody>
      </p:sp>
      <p:sp>
        <p:nvSpPr>
          <p:cNvPr id="27" name="Oval 26"/>
          <p:cNvSpPr/>
          <p:nvPr/>
        </p:nvSpPr>
        <p:spPr>
          <a:xfrm>
            <a:off x="978407" y="4882896"/>
            <a:ext cx="347472" cy="347472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7" y="4919472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4114800"/>
            <a:ext cx="3840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43E"/>
                </a:solidFill>
                <a:latin typeface="Yu Gothic"/>
              </a:rPr>
              <a:t>モデルの学習・保存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9928" y="4590288"/>
            <a:ext cx="3886200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予測器のみを学習し、検証CCCが最良の重みを保存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5248656"/>
            <a:ext cx="987552" cy="310896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5257800"/>
            <a:ext cx="98755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2A06B"/>
                </a:solidFill>
                <a:latin typeface="Yu Gothic"/>
              </a:rPr>
              <a:t>実装済み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3840480"/>
            <a:ext cx="5321808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4069080"/>
            <a:ext cx="585216" cy="1444752"/>
          </a:xfrm>
          <a:prstGeom prst="roundRect">
            <a:avLst>
              <a:gd name="adj" fmla="val 15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51960"/>
            <a:ext cx="585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99B2D"/>
                </a:solidFill>
                <a:latin typeface="Yu Gothic"/>
              </a:rPr>
              <a:t>04</a:t>
            </a:r>
          </a:p>
        </p:txBody>
      </p:sp>
      <p:sp>
        <p:nvSpPr>
          <p:cNvPr id="36" name="Oval 35"/>
          <p:cNvSpPr/>
          <p:nvPr/>
        </p:nvSpPr>
        <p:spPr>
          <a:xfrm>
            <a:off x="6519672" y="4882896"/>
            <a:ext cx="347472" cy="347472"/>
          </a:xfrm>
          <a:prstGeom prst="ellipse">
            <a:avLst/>
          </a:prstGeom>
          <a:solidFill>
            <a:srgbClr val="E9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4919472"/>
            <a:ext cx="34747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192" y="4114800"/>
            <a:ext cx="3840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43E"/>
                </a:solidFill>
                <a:latin typeface="Yu Gothic"/>
              </a:rPr>
              <a:t>WAV音声からの推論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4590288"/>
            <a:ext cx="3886200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保存済み予測器を読み込み、1つのWAVからJSONを生成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58984" y="5248656"/>
            <a:ext cx="987552" cy="310896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58984" y="5257800"/>
            <a:ext cx="98755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9B2D"/>
                </a:solidFill>
                <a:latin typeface="Yu Gothic"/>
              </a:rPr>
              <a:t>実装済み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" y="6519672"/>
            <a:ext cx="10881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C7B"/>
                </a:solidFill>
                <a:latin typeface="Yu Gothic"/>
              </a:rPr>
              <a:t>学習対象は現時点では予測器（回帰ヘッド）のみ。emotion2vec本体は固定。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78D0"/>
                </a:solidFill>
                <a:latin typeface="Yu Gothic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Yu Gothic"/>
              </a:rPr>
              <a:t>検証状況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E6C7B"/>
                </a:solidFill>
                <a:latin typeface="Yu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9576"/>
            <a:ext cx="658368" cy="45720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703320" cy="4416552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0160"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56231"/>
            <a:ext cx="1828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EDDE5"/>
                </a:solidFill>
                <a:latin typeface="Yu Gothic"/>
              </a:rPr>
              <a:t>自動テスト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67712"/>
            <a:ext cx="2057400" cy="7680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Yu Gothic"/>
              </a:rPr>
              <a:t>32</a:t>
            </a:r>
            <a:r>
              <a:rPr sz="2100" b="1">
                <a:solidFill>
                  <a:srgbClr val="FFFFFF"/>
                </a:solidFill>
                <a:latin typeface="Yu Gothic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90672"/>
            <a:ext cx="219456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すべて成功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67328"/>
            <a:ext cx="960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5D6E7"/>
                </a:solidFill>
                <a:latin typeface="Yu Gothic"/>
              </a:rPr>
              <a:t>データ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75104" y="3785615"/>
            <a:ext cx="1325880" cy="146304"/>
          </a:xfrm>
          <a:prstGeom prst="roundRect">
            <a:avLst>
              <a:gd name="adj" fmla="val 25000"/>
            </a:avLst>
          </a:prstGeom>
          <a:solidFill>
            <a:srgbClr val="36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75104" y="3785615"/>
            <a:ext cx="1325880" cy="146304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3749040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Yu Gothic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114800"/>
            <a:ext cx="960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5D6E7"/>
                </a:solidFill>
                <a:latin typeface="Yu Gothic"/>
              </a:rPr>
              <a:t>モデル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75104" y="4133087"/>
            <a:ext cx="1325880" cy="146304"/>
          </a:xfrm>
          <a:prstGeom prst="roundRect">
            <a:avLst>
              <a:gd name="adj" fmla="val 25000"/>
            </a:avLst>
          </a:prstGeom>
          <a:solidFill>
            <a:srgbClr val="36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75104" y="4133087"/>
            <a:ext cx="883919" cy="146304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4096512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462272"/>
            <a:ext cx="960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5D6E7"/>
                </a:solidFill>
                <a:latin typeface="Yu Gothic"/>
              </a:rPr>
              <a:t>推論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75104" y="4480559"/>
            <a:ext cx="1325880" cy="146304"/>
          </a:xfrm>
          <a:prstGeom prst="roundRect">
            <a:avLst>
              <a:gd name="adj" fmla="val 25000"/>
            </a:avLst>
          </a:prstGeom>
          <a:solidFill>
            <a:srgbClr val="36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75104" y="4480559"/>
            <a:ext cx="1325880" cy="146304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4443984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Yu Gothic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809744"/>
            <a:ext cx="960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5D6E7"/>
                </a:solidFill>
                <a:latin typeface="Yu Gothic"/>
              </a:rPr>
              <a:t>学習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5104" y="4828031"/>
            <a:ext cx="1325880" cy="146304"/>
          </a:xfrm>
          <a:prstGeom prst="roundRect">
            <a:avLst>
              <a:gd name="adj" fmla="val 25000"/>
            </a:avLst>
          </a:prstGeom>
          <a:solidFill>
            <a:srgbClr val="36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75104" y="4828031"/>
            <a:ext cx="883919" cy="146304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4791456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157216"/>
            <a:ext cx="960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5D6E7"/>
                </a:solidFill>
                <a:latin typeface="Yu Gothic"/>
              </a:rPr>
              <a:t>学習CLI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75104" y="5175503"/>
            <a:ext cx="1325880" cy="146304"/>
          </a:xfrm>
          <a:prstGeom prst="roundRect">
            <a:avLst>
              <a:gd name="adj" fmla="val 25000"/>
            </a:avLst>
          </a:prstGeom>
          <a:solidFill>
            <a:srgbClr val="36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75104" y="5175503"/>
            <a:ext cx="294639" cy="146304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9856" y="5138928"/>
            <a:ext cx="3474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" y="5486400"/>
            <a:ext cx="1426464" cy="310896"/>
          </a:xfrm>
          <a:prstGeom prst="roundRect">
            <a:avLst>
              <a:gd name="adj" fmla="val 20000"/>
            </a:avLst>
          </a:prstGeom>
          <a:solidFill>
            <a:srgbClr val="203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495544"/>
            <a:ext cx="142646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1E1E8"/>
                </a:solidFill>
                <a:latin typeface="Yu Gothic"/>
              </a:rPr>
              <a:t>再実行でも成功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45152" y="1508760"/>
            <a:ext cx="6885432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56048" y="1783080"/>
            <a:ext cx="960120" cy="310896"/>
          </a:xfrm>
          <a:prstGeom prst="roundRect">
            <a:avLst>
              <a:gd name="adj" fmla="val 20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1792224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78D0"/>
                </a:solidFill>
                <a:latin typeface="Yu Gothic"/>
              </a:rPr>
              <a:t>評価方法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2221992"/>
            <a:ext cx="5029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43E"/>
                </a:solidFill>
                <a:latin typeface="Yu Gothic"/>
              </a:rPr>
              <a:t>CCC（予測と正解の一致度）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2660904"/>
            <a:ext cx="58978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値の動きと大きさをまとめて評価。1に近いほどよく一致します。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92624" y="3182112"/>
            <a:ext cx="5623560" cy="82296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01184" y="3127248"/>
            <a:ext cx="182880" cy="182880"/>
          </a:xfrm>
          <a:prstGeom prst="ellipse">
            <a:avLst/>
          </a:prstGeom>
          <a:solidFill>
            <a:srgbClr val="C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3364992"/>
            <a:ext cx="32918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E6C7B"/>
                </a:solidFill>
                <a:latin typeface="Yu Gothic"/>
              </a:rPr>
              <a:t>-1</a:t>
            </a:r>
          </a:p>
        </p:txBody>
      </p:sp>
      <p:sp>
        <p:nvSpPr>
          <p:cNvPr id="40" name="Oval 39"/>
          <p:cNvSpPr/>
          <p:nvPr/>
        </p:nvSpPr>
        <p:spPr>
          <a:xfrm>
            <a:off x="7712964" y="3127248"/>
            <a:ext cx="182880" cy="182880"/>
          </a:xfrm>
          <a:prstGeom prst="ellipse">
            <a:avLst/>
          </a:prstGeom>
          <a:solidFill>
            <a:srgbClr val="E9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812" y="3364992"/>
            <a:ext cx="32918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E6C7B"/>
                </a:solidFill>
                <a:latin typeface="Yu Gothic"/>
              </a:rPr>
              <a:t>0</a:t>
            </a:r>
          </a:p>
        </p:txBody>
      </p:sp>
      <p:sp>
        <p:nvSpPr>
          <p:cNvPr id="42" name="Oval 41"/>
          <p:cNvSpPr/>
          <p:nvPr/>
        </p:nvSpPr>
        <p:spPr>
          <a:xfrm>
            <a:off x="10524744" y="3127248"/>
            <a:ext cx="182880" cy="182880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51592" y="3364992"/>
            <a:ext cx="32918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E6C7B"/>
                </a:solidFill>
                <a:latin typeface="Yu Gothic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45152" y="3813048"/>
            <a:ext cx="6885432" cy="2112264"/>
          </a:xfrm>
          <a:prstGeom prst="roundRect">
            <a:avLst>
              <a:gd name="adj" fmla="val 8000"/>
            </a:avLst>
          </a:prstGeom>
          <a:solidFill>
            <a:srgbClr val="FFF5E5"/>
          </a:solidFill>
          <a:ln w="10160">
            <a:solidFill>
              <a:srgbClr val="F1D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956048" y="4078224"/>
            <a:ext cx="1133856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56048" y="4087368"/>
            <a:ext cx="11338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9B2D"/>
                </a:solidFill>
                <a:latin typeface="Yu Gothic"/>
              </a:rPr>
              <a:t>現状の判定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4535424"/>
            <a:ext cx="58064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43E"/>
                </a:solidFill>
                <a:latin typeface="Yu Gothic"/>
              </a:rPr>
              <a:t>CCCの計算・最良モデル選択は実装済み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56048" y="4965192"/>
            <a:ext cx="58064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263A"/>
                </a:solidFill>
                <a:latin typeface="Yu Gothic"/>
              </a:rPr>
              <a:t>実データでの性能値はまだ測定していません。
テスト成功は、研究性能の高さを示すものではありません。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6519672"/>
            <a:ext cx="10881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C7B"/>
                </a:solidFill>
                <a:latin typeface="Yu Gothic"/>
              </a:rPr>
              <a:t>検証済み：コードの振る舞い。未検証：実チェックポイントと実データでの性能。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78D0"/>
                </a:solidFill>
                <a:latin typeface="Yu Gothic"/>
              </a:rPr>
              <a:t>CURRENT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Yu Gothic"/>
              </a:rPr>
              <a:t>現在できること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E6C7B"/>
                </a:solidFill>
                <a:latin typeface="Yu Gothi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9576"/>
            <a:ext cx="658368" cy="45720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4754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63A"/>
                </a:solidFill>
                <a:latin typeface="Yu Gothic"/>
              </a:rPr>
              <a:t>2つの実行経路が利用できます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413248" cy="3584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2121408"/>
            <a:ext cx="658368" cy="310896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1"/>
            <a:ext cx="65836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2A06B"/>
                </a:solidFill>
                <a:latin typeface="Yu Gothic"/>
              </a:rPr>
              <a:t>学習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2926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43E"/>
                </a:solidFill>
                <a:latin typeface="Yu Gothic"/>
              </a:rPr>
              <a:t>予測器を作る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136392"/>
            <a:ext cx="384048" cy="384048"/>
          </a:xfrm>
          <a:prstGeom prst="ellipse">
            <a:avLst/>
          </a:prstGeom>
          <a:solidFill>
            <a:srgbClr val="28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40964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1328" y="3108960"/>
            <a:ext cx="3621024" cy="438912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016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4208" y="3182112"/>
            <a:ext cx="3246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43E"/>
                </a:solidFill>
                <a:latin typeface="Yu Gothic"/>
              </a:rPr>
              <a:t>特徴量 + 正解ラベル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794760"/>
            <a:ext cx="384048" cy="384048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99332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1328" y="3767328"/>
            <a:ext cx="3621024" cy="438912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10160">
            <a:solidFill>
              <a:srgbClr val="EA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64208" y="3840480"/>
            <a:ext cx="3246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43E"/>
                </a:solidFill>
                <a:latin typeface="Yu Gothic"/>
              </a:rPr>
              <a:t>予測器を学習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453128"/>
            <a:ext cx="384048" cy="384048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57700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81328" y="4425696"/>
            <a:ext cx="3621024" cy="438912"/>
          </a:xfrm>
          <a:prstGeom prst="roundRect">
            <a:avLst>
              <a:gd name="adj" fmla="val 8000"/>
            </a:avLst>
          </a:prstGeom>
          <a:solidFill>
            <a:srgbClr val="E8F8FA"/>
          </a:solidFill>
          <a:ln w="10160"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4498848"/>
            <a:ext cx="3246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43E"/>
                </a:solidFill>
                <a:latin typeface="Yu Gothic"/>
              </a:rPr>
              <a:t>重みを保存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120640"/>
            <a:ext cx="4526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C7B"/>
                </a:solidFill>
                <a:latin typeface="Yu Gothic"/>
              </a:rPr>
              <a:t>検証データがあれば、平均CCCが最良の重みを選択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847088"/>
            <a:ext cx="5330952" cy="3584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73952" y="2121408"/>
            <a:ext cx="658368" cy="310896"/>
          </a:xfrm>
          <a:prstGeom prst="roundRect">
            <a:avLst>
              <a:gd name="adj" fmla="val 20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130551"/>
            <a:ext cx="65836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78D0"/>
                </a:solidFill>
                <a:latin typeface="Yu Gothic"/>
              </a:rPr>
              <a:t>推論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560320"/>
            <a:ext cx="34747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43E"/>
                </a:solidFill>
                <a:latin typeface="Yu Gothic"/>
              </a:rPr>
              <a:t>WAVから値を出す</a:t>
            </a:r>
          </a:p>
        </p:txBody>
      </p:sp>
      <p:sp>
        <p:nvSpPr>
          <p:cNvPr id="28" name="Oval 27"/>
          <p:cNvSpPr/>
          <p:nvPr/>
        </p:nvSpPr>
        <p:spPr>
          <a:xfrm>
            <a:off x="6501384" y="3136392"/>
            <a:ext cx="384048" cy="384048"/>
          </a:xfrm>
          <a:prstGeom prst="ellipse">
            <a:avLst/>
          </a:prstGeom>
          <a:solidFill>
            <a:srgbClr val="28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3140964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22592" y="3108960"/>
            <a:ext cx="3621024" cy="438912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016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3182112"/>
            <a:ext cx="3246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43E"/>
                </a:solidFill>
                <a:latin typeface="Yu Gothic"/>
              </a:rPr>
              <a:t>WAV + 2種類の重み</a:t>
            </a:r>
          </a:p>
        </p:txBody>
      </p:sp>
      <p:sp>
        <p:nvSpPr>
          <p:cNvPr id="32" name="Oval 31"/>
          <p:cNvSpPr/>
          <p:nvPr/>
        </p:nvSpPr>
        <p:spPr>
          <a:xfrm>
            <a:off x="6501384" y="3794760"/>
            <a:ext cx="384048" cy="384048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4" y="3799332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22592" y="3767328"/>
            <a:ext cx="3621024" cy="438912"/>
          </a:xfrm>
          <a:prstGeom prst="roundRect">
            <a:avLst>
              <a:gd name="adj" fmla="val 8000"/>
            </a:avLst>
          </a:prstGeom>
          <a:solidFill>
            <a:srgbClr val="E8F8FA"/>
          </a:solidFill>
          <a:ln w="10160"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3840480"/>
            <a:ext cx="3246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43E"/>
                </a:solidFill>
                <a:latin typeface="Yu Gothic"/>
              </a:rPr>
              <a:t>音声を処理</a:t>
            </a:r>
          </a:p>
        </p:txBody>
      </p:sp>
      <p:sp>
        <p:nvSpPr>
          <p:cNvPr id="36" name="Oval 35"/>
          <p:cNvSpPr/>
          <p:nvPr/>
        </p:nvSpPr>
        <p:spPr>
          <a:xfrm>
            <a:off x="6501384" y="4453128"/>
            <a:ext cx="384048" cy="384048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4" y="4457700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22592" y="4425696"/>
            <a:ext cx="3621024" cy="438912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10160">
            <a:solidFill>
              <a:srgbClr val="EA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5472" y="4498848"/>
            <a:ext cx="3246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43E"/>
                </a:solidFill>
                <a:latin typeface="Yu Gothic"/>
              </a:rPr>
              <a:t>JSONを出力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120640"/>
            <a:ext cx="4526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C7B"/>
                </a:solidFill>
                <a:latin typeface="Yu Gothic"/>
              </a:rPr>
              <a:t>出力：ラベル名、予測値、使用した予測器の情報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00200" y="5669280"/>
            <a:ext cx="8988552" cy="530352"/>
          </a:xfrm>
          <a:prstGeom prst="roundRect">
            <a:avLst>
              <a:gd name="adj" fmla="val 8000"/>
            </a:avLst>
          </a:prstGeom>
          <a:solidFill>
            <a:srgbClr val="FFF5E5"/>
          </a:solidFill>
          <a:ln w="10160">
            <a:solidFill>
              <a:srgbClr val="F0D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56231" y="5815584"/>
            <a:ext cx="85039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63A"/>
                </a:solidFill>
                <a:latin typeface="Yu Gothic"/>
              </a:rPr>
              <a:t>注意：仮の予測器でも配線確認はできますが、その数値は研究結果として使えません。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6519672"/>
            <a:ext cx="10881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C7B"/>
                </a:solidFill>
                <a:latin typeface="Yu Gothic"/>
              </a:rPr>
              <a:t>実用的な推論には、emotion2vec本体の重みと学習済み予測器の両方が必要。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78D0"/>
                </a:solidFill>
                <a:latin typeface="Yu Gothic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43E"/>
                </a:solidFill>
                <a:latin typeface="Yu Gothic"/>
              </a:rPr>
              <a:t>未完了事項と次の作業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5E6C7B"/>
                </a:solidFill>
                <a:latin typeface="Yu Gothi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9576"/>
            <a:ext cx="658368" cy="45720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4663440" cy="4507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92224"/>
            <a:ext cx="841248" cy="310896"/>
          </a:xfrm>
          <a:prstGeom prst="roundRect">
            <a:avLst>
              <a:gd name="adj" fmla="val 20000"/>
            </a:avLst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84124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F4A4A"/>
                </a:solidFill>
                <a:latin typeface="Yu Gothic"/>
              </a:rPr>
              <a:t>未完了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4023360" cy="3063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CF4A4A"/>
                </a:solidFill>
                <a:latin typeface="Yu Gothic"/>
              </a:rPr>
              <a:t>●  </a:t>
            </a:r>
            <a:r>
              <a:rPr sz="1350">
                <a:solidFill>
                  <a:srgbClr val="17263A"/>
                </a:solidFill>
                <a:latin typeface="Yu Gothic"/>
              </a:rPr>
              <a:t>実emotion2vec重みを使った疎通確認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CF4A4A"/>
                </a:solidFill>
                <a:latin typeface="Yu Gothic"/>
              </a:rPr>
              <a:t>●  </a:t>
            </a:r>
            <a:r>
              <a:rPr sz="1350">
                <a:solidFill>
                  <a:srgbClr val="17263A"/>
                </a:solidFill>
                <a:latin typeface="Yu Gothic"/>
              </a:rPr>
              <a:t>実データでのCCC測定と比較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CF4A4A"/>
                </a:solidFill>
                <a:latin typeface="Yu Gothic"/>
              </a:rPr>
              <a:t>●  </a:t>
            </a:r>
            <a:r>
              <a:rPr sz="1350">
                <a:solidFill>
                  <a:srgbClr val="17263A"/>
                </a:solidFill>
                <a:latin typeface="Yu Gothic"/>
              </a:rPr>
              <a:t>生の注釈から学習形式への変換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CF4A4A"/>
                </a:solidFill>
                <a:latin typeface="Yu Gothic"/>
              </a:rPr>
              <a:t>●  </a:t>
            </a:r>
            <a:r>
              <a:rPr sz="1350">
                <a:solidFill>
                  <a:srgbClr val="17263A"/>
                </a:solidFill>
                <a:latin typeface="Yu Gothic"/>
              </a:rPr>
              <a:t>音声の再サンプリング・ステレオ対応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CF4A4A"/>
                </a:solidFill>
                <a:latin typeface="Yu Gothic"/>
              </a:rPr>
              <a:t>●  </a:t>
            </a:r>
            <a:r>
              <a:rPr sz="1350">
                <a:solidFill>
                  <a:srgbClr val="17263A"/>
                </a:solidFill>
                <a:latin typeface="Yu Gothic"/>
              </a:rPr>
              <a:t>emotion2vec本体の追加学習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541264"/>
            <a:ext cx="397763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E6C7B"/>
                </a:solidFill>
                <a:latin typeface="Yu Gothic"/>
              </a:rPr>
              <a:t>分類機能や大規模な実験管理も将来候補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1508760"/>
            <a:ext cx="5934456" cy="4507992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0160"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25312" y="1792224"/>
            <a:ext cx="841248" cy="310896"/>
          </a:xfrm>
          <a:prstGeom prst="roundRect">
            <a:avLst>
              <a:gd name="adj" fmla="val 20000"/>
            </a:avLst>
          </a:prstGeom>
          <a:solidFill>
            <a:srgbClr val="203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1801368"/>
            <a:ext cx="84124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1E1E8"/>
                </a:solidFill>
                <a:latin typeface="Yu Gothic"/>
              </a:rPr>
              <a:t>優先順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2331720"/>
            <a:ext cx="502920" cy="502920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40487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22576"/>
            <a:ext cx="4251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必要な重みを準備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24327"/>
            <a:ext cx="42519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ED0E2"/>
                </a:solidFill>
                <a:latin typeface="Yu Gothic"/>
              </a:rPr>
              <a:t>本体 + 学習済み予測器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2852927"/>
            <a:ext cx="32004" cy="384048"/>
          </a:xfrm>
          <a:prstGeom prst="rect">
            <a:avLst/>
          </a:prstGeom>
          <a:solidFill>
            <a:srgbClr val="4A6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3182112"/>
            <a:ext cx="502920" cy="502920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2552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72968"/>
            <a:ext cx="4251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実WAVで疎通確認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74720"/>
            <a:ext cx="42519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ED0E2"/>
                </a:solidFill>
                <a:latin typeface="Yu Gothic"/>
              </a:rPr>
              <a:t>入力からJSONまで通す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3703320"/>
            <a:ext cx="32004" cy="384048"/>
          </a:xfrm>
          <a:prstGeom prst="rect">
            <a:avLst/>
          </a:prstGeom>
          <a:solidFill>
            <a:srgbClr val="4A6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4032504"/>
            <a:ext cx="502920" cy="502920"/>
          </a:xfrm>
          <a:prstGeom prst="ellipse">
            <a:avLst/>
          </a:prstGeom>
          <a:solidFill>
            <a:srgbClr val="3C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10565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023360"/>
            <a:ext cx="4251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実データでCCC評価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25112"/>
            <a:ext cx="42519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ED0E2"/>
                </a:solidFill>
                <a:latin typeface="Yu Gothic"/>
              </a:rPr>
              <a:t>性能値と失敗例を確認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4553712"/>
            <a:ext cx="32004" cy="384048"/>
          </a:xfrm>
          <a:prstGeom prst="rect">
            <a:avLst/>
          </a:prstGeom>
          <a:solidFill>
            <a:srgbClr val="4A6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0" y="4882896"/>
            <a:ext cx="502920" cy="502920"/>
          </a:xfrm>
          <a:prstGeom prst="ellipse">
            <a:avLst/>
          </a:prstGeom>
          <a:solidFill>
            <a:srgbClr val="3C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495604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873752"/>
            <a:ext cx="4251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前処理と対応形式を拡張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175504"/>
            <a:ext cx="42519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ED0E2"/>
                </a:solidFill>
                <a:latin typeface="Yu Gothic"/>
              </a:rPr>
              <a:t>実運用に必要な堅牢性を追加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6168" y="5513832"/>
            <a:ext cx="5239512" cy="310896"/>
          </a:xfrm>
          <a:prstGeom prst="roundRect">
            <a:avLst>
              <a:gd name="adj" fmla="val 8000"/>
            </a:avLst>
          </a:prstGeom>
          <a:solidFill>
            <a:srgbClr val="183653"/>
          </a:solidFill>
          <a:ln w="10160">
            <a:solidFill>
              <a:srgbClr val="183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5559552"/>
            <a:ext cx="48828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8FE2E9"/>
                </a:solidFill>
                <a:latin typeface="Yu Gothic"/>
              </a:rPr>
              <a:t>次の到達点：実データのCCCを根拠付きで報告する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" y="6519672"/>
            <a:ext cx="10881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C7B"/>
                </a:solidFill>
                <a:latin typeface="Yu Gothic"/>
              </a:rPr>
              <a:t>実装済みと未完了を分離し、次は実環境・実データでの検証へ進む。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emotion2vec 進捗報告</dc:title>
  <dc:subject>目的・実装内容・検証状況・次の作業</dc:subject>
  <dc:creator>emotion2vec project</dc:creator>
  <cp:keywords/>
  <dc:description>Git履歴と実装・テスト結果を確認して作成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