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-1508760"/>
            <a:ext cx="5166360" cy="5166360"/>
          </a:xfrm>
          <a:prstGeom prst="ellipse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64040" y="4315968"/>
            <a:ext cx="3291840" cy="329184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4944" y="594360"/>
            <a:ext cx="2057400" cy="292608"/>
          </a:xfrm>
          <a:prstGeom prst="roundRect">
            <a:avLst>
              <a:gd name="adj" fmla="val 18000"/>
            </a:avLst>
          </a:prstGeom>
          <a:solidFill>
            <a:srgbClr val="17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598932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1DFE7"/>
                </a:solidFill>
                <a:latin typeface="Yu Gothic"/>
              </a:rPr>
              <a:t>RESEARCH PLAN ×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243584"/>
            <a:ext cx="6995160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2900" b="1">
                <a:solidFill>
                  <a:srgbClr val="FFFFFF"/>
                </a:solidFill>
                <a:latin typeface="Yu Gothic"/>
              </a:rPr>
              <a:t>emotion2vecを用いた
日本語音声感情認識の構築と評価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FD3E7"/>
                </a:solidFill>
                <a:latin typeface="Yu Gothic"/>
              </a:rPr>
              <a:t>研究計画・進捗報告 統合版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767328"/>
            <a:ext cx="6016752" cy="1143000"/>
          </a:xfrm>
          <a:prstGeom prst="roundRect">
            <a:avLst>
              <a:gd name="adj" fmla="val 8000"/>
            </a:avLst>
          </a:prstGeom>
          <a:solidFill>
            <a:srgbClr val="123250"/>
          </a:solidFill>
          <a:ln w="10160">
            <a:solidFill>
              <a:srgbClr val="284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05072"/>
            <a:ext cx="786384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83DDE5"/>
                </a:solidFill>
                <a:latin typeface="Yu Gothic"/>
              </a:rPr>
              <a:t>現在地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325112"/>
            <a:ext cx="5394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</a:rPr>
              <a:t>固定特徴を用いた VA / VAD 回帰経路まで実装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32918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Yu Gothic"/>
              </a:rPr>
              <a:t>23RD004  秋山叶太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81344"/>
            <a:ext cx="23774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FD3E7"/>
                </a:solidFill>
                <a:latin typeface="Yu Gothic"/>
              </a:rPr>
              <a:t>2026年6月22日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1" y="1508760"/>
            <a:ext cx="658368" cy="292608"/>
          </a:xfrm>
          <a:prstGeom prst="roundRect">
            <a:avLst>
              <a:gd name="adj" fmla="val 18000"/>
            </a:avLst>
          </a:prstGeom>
          <a:solidFill>
            <a:srgbClr val="EA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1513331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C7BE5"/>
                </a:solidFill>
                <a:latin typeface="Yu Gothic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1883664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研究全体を4段階で設計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679191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57031" y="2862072"/>
            <a:ext cx="658368" cy="292608"/>
          </a:xfrm>
          <a:prstGeom prst="roundRect">
            <a:avLst>
              <a:gd name="adj" fmla="val 18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2866644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3236975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VA / VAD回帰を実装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032504"/>
            <a:ext cx="3383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57031" y="4215384"/>
            <a:ext cx="658368" cy="292608"/>
          </a:xfrm>
          <a:prstGeom prst="roundRect">
            <a:avLst>
              <a:gd name="adj" fmla="val 18000"/>
            </a:avLst>
          </a:prstGeom>
          <a:solidFill>
            <a:srgbClr val="E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4219956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A878"/>
                </a:solidFill>
                <a:latin typeface="Yu Gothic"/>
              </a:rPr>
              <a:t>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4590288"/>
            <a:ext cx="27432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実データCCCを報告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WHY THIS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背景・先行研究・研究目的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538728" cy="276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773936"/>
            <a:ext cx="804672" cy="292608"/>
          </a:xfrm>
          <a:prstGeom prst="roundRect">
            <a:avLst>
              <a:gd name="adj" fmla="val 18000"/>
            </a:avLst>
          </a:prstGeom>
          <a:solidFill>
            <a:srgbClr val="EA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785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C7BE5"/>
                </a:solidFill>
                <a:latin typeface="Yu Gothic"/>
              </a:rPr>
              <a:t>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296265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音声感情認識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299008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対話・教育・医療支援では、発話内容だけでなく声の感情傾向を扱う必要がある。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123944"/>
            <a:ext cx="3538728" cy="146304"/>
          </a:xfrm>
          <a:prstGeom prst="rect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508760"/>
            <a:ext cx="3538728" cy="276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36592" y="1773936"/>
            <a:ext cx="804672" cy="292608"/>
          </a:xfrm>
          <a:prstGeom prst="roundRect">
            <a:avLst>
              <a:gd name="adj" fmla="val 18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7785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先行研究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267712"/>
            <a:ext cx="296265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emotion2vec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807208"/>
            <a:ext cx="299008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自己教師あり学習で汎用的な感情表現を獲得し、複数の感情認識タスクへ転用する。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4123944"/>
            <a:ext cx="3538728" cy="146304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02752" y="1508760"/>
            <a:ext cx="3538728" cy="2761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58784" y="1773936"/>
            <a:ext cx="804672" cy="292608"/>
          </a:xfrm>
          <a:prstGeom prst="roundRect">
            <a:avLst>
              <a:gd name="adj" fmla="val 18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58784" y="1778507"/>
            <a:ext cx="804672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課題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58784" y="2267712"/>
            <a:ext cx="2962656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日本語への適用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2807208"/>
            <a:ext cx="2990088" cy="9418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言語・データ条件の差を踏まえ、日本語音声での連続値回帰と分類を体系的に評価する。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02752" y="4123944"/>
            <a:ext cx="3538728" cy="146304"/>
          </a:xfrm>
          <a:prstGeom prst="rect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4608576"/>
            <a:ext cx="10981944" cy="1335024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0B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976" y="4910328"/>
            <a:ext cx="932688" cy="292608"/>
          </a:xfrm>
          <a:prstGeom prst="roundRect">
            <a:avLst>
              <a:gd name="adj" fmla="val 18000"/>
            </a:avLst>
          </a:prstGeom>
          <a:solidFill>
            <a:srgbClr val="173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914900"/>
            <a:ext cx="932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研究目的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76272" y="4818888"/>
            <a:ext cx="8869680" cy="7498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Yu Gothic"/>
              </a:rPr>
              <a:t>日本語音声に適したemotion2vec活用法を構築し、
連続感情値回帰・感情分類・比較評価から有効性を明らかにする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先行研究：emotion2vec（Ma et al., ACL 2024）。本研究は日本語条件での実装と実証を焦点とする。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RESEARCH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研究全体の設計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941832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7263A"/>
                </a:solidFill>
                <a:latin typeface="Yu Gothic"/>
              </a:rPr>
              <a:t>計画は4段階。現在は回帰経路の実装を終え、実データ評価へ移る地点にいる。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45536" y="2971800"/>
            <a:ext cx="374903" cy="0"/>
          </a:xfrm>
          <a:prstGeom prst="line">
            <a:avLst/>
          </a:prstGeom>
          <a:ln w="25400">
            <a:solidFill>
              <a:srgbClr val="B7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hevron 7"/>
          <p:cNvSpPr/>
          <p:nvPr/>
        </p:nvSpPr>
        <p:spPr>
          <a:xfrm>
            <a:off x="3319272" y="2816352"/>
            <a:ext cx="201168" cy="310896"/>
          </a:xfrm>
          <a:prstGeom prst="chevron">
            <a:avLst/>
          </a:prstGeom>
          <a:solidFill>
            <a:srgbClr val="B7C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514600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93976"/>
            <a:ext cx="457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70048"/>
            <a:ext cx="2084831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日本語
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584448"/>
            <a:ext cx="2048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184"/>
                </a:solidFill>
                <a:latin typeface="Yu Gothic"/>
              </a:rPr>
              <a:t>日本語音声で
基盤表現を適応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62456" y="4443984"/>
            <a:ext cx="1115568" cy="292608"/>
          </a:xfrm>
          <a:prstGeom prst="roundRect">
            <a:avLst>
              <a:gd name="adj" fmla="val 18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62456" y="4448556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未実施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34456" y="2971800"/>
            <a:ext cx="374903" cy="0"/>
          </a:xfrm>
          <a:prstGeom prst="line">
            <a:avLst/>
          </a:prstGeom>
          <a:ln w="25400">
            <a:solidFill>
              <a:srgbClr val="B7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6108192" y="2816352"/>
            <a:ext cx="201168" cy="310896"/>
          </a:xfrm>
          <a:prstGeom prst="chevron">
            <a:avLst/>
          </a:prstGeom>
          <a:solidFill>
            <a:srgbClr val="B7C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47287" y="1828800"/>
            <a:ext cx="2514600" cy="3218688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20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599" y="2057400"/>
            <a:ext cx="457200" cy="45720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9" y="2093976"/>
            <a:ext cx="457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2670048"/>
            <a:ext cx="2084831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"/>
              </a:rPr>
              <a:t>VAD回帰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5887" y="3584448"/>
            <a:ext cx="2048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C2D5E7"/>
                </a:solidFill>
                <a:latin typeface="Yu Gothic"/>
              </a:rPr>
              <a:t>連続感情値を
CCCで評価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51375" y="4443984"/>
            <a:ext cx="1115568" cy="292608"/>
          </a:xfrm>
          <a:prstGeom prst="roundRect">
            <a:avLst>
              <a:gd name="adj" fmla="val 18000"/>
            </a:avLst>
          </a:prstGeom>
          <a:solidFill>
            <a:srgbClr val="18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51375" y="4448556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EE1E8"/>
                </a:solidFill>
                <a:latin typeface="Yu Gothic"/>
              </a:rPr>
              <a:t>実装済み※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23376" y="2971800"/>
            <a:ext cx="374904" cy="0"/>
          </a:xfrm>
          <a:prstGeom prst="line">
            <a:avLst/>
          </a:prstGeom>
          <a:ln w="25400">
            <a:solidFill>
              <a:srgbClr val="B7C4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8897112" y="2816352"/>
            <a:ext cx="201168" cy="310896"/>
          </a:xfrm>
          <a:prstGeom prst="chevron">
            <a:avLst/>
          </a:prstGeom>
          <a:solidFill>
            <a:srgbClr val="B7C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36207" y="1828800"/>
            <a:ext cx="2514600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205740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093976"/>
            <a:ext cx="457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670048"/>
            <a:ext cx="2084831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感情分類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3584448"/>
            <a:ext cx="2048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184"/>
                </a:solidFill>
                <a:latin typeface="Yu Gothic"/>
              </a:rPr>
              <a:t>カテゴリ感情を
WA / Macro-F1で評価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0296" y="4443984"/>
            <a:ext cx="1115568" cy="292608"/>
          </a:xfrm>
          <a:prstGeom prst="roundRect">
            <a:avLst>
              <a:gd name="adj" fmla="val 18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0296" y="4448556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未実施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25128" y="1828800"/>
            <a:ext cx="2514600" cy="3218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2057400"/>
            <a:ext cx="457200" cy="45720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2093976"/>
            <a:ext cx="457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44584" y="2670048"/>
            <a:ext cx="2084831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比較評価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3584448"/>
            <a:ext cx="2048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07184"/>
                </a:solidFill>
                <a:latin typeface="Yu Gothic"/>
              </a:rPr>
              <a:t>固定特徴・fine-tuning・
既存手法を比較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9215" y="4443984"/>
            <a:ext cx="1115568" cy="292608"/>
          </a:xfrm>
          <a:prstGeom prst="roundRect">
            <a:avLst>
              <a:gd name="adj" fmla="val 18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9215" y="4448556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未実施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38144" y="5340096"/>
            <a:ext cx="5303520" cy="640080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BD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5522976"/>
            <a:ext cx="4892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F36"/>
                </a:solidFill>
                <a:latin typeface="Yu Gothic"/>
              </a:rPr>
              <a:t>※ 現在実装済み：固定した768次元emotion2vec特徴を使う VA / VAD 回帰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emotion2vec本体のfine-tuningは未実施。現在地を研究全体の完成と混同しない。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DATA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データセット・評価方法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4590288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1746504"/>
            <a:ext cx="658368" cy="292608"/>
          </a:xfrm>
          <a:prstGeom prst="roundRect">
            <a:avLst>
              <a:gd name="adj" fmla="val 18000"/>
            </a:avLst>
          </a:prstGeom>
          <a:solidFill>
            <a:srgbClr val="EA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51075"/>
            <a:ext cx="6583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C7BE5"/>
                </a:solidFill>
                <a:latin typeface="Yu Gothic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94560"/>
            <a:ext cx="34747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用途でデータを分ける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788920"/>
            <a:ext cx="4023360" cy="658368"/>
          </a:xfrm>
          <a:prstGeom prst="roundRect">
            <a:avLst>
              <a:gd name="adj" fmla="val 8000"/>
            </a:avLst>
          </a:prstGeom>
          <a:solidFill>
            <a:srgbClr val="EAF3FD"/>
          </a:solidFill>
          <a:ln w="10160">
            <a:solidFill>
              <a:srgbClr val="EA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907791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6"/>
                </a:solidFill>
                <a:latin typeface="Yu Gothic"/>
              </a:rPr>
              <a:t>HCUDB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95728" y="2953512"/>
            <a:ext cx="960120" cy="2560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2958084"/>
            <a:ext cx="9601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C7BE5"/>
                </a:solidFill>
                <a:latin typeface="Yu Gothic"/>
              </a:rPr>
              <a:t>日本語音声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2907791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17263A"/>
                </a:solidFill>
                <a:latin typeface="Yu Gothic"/>
              </a:rPr>
              <a:t>日本語fine-tuning・VA/VAD回帰の候補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611879"/>
            <a:ext cx="4023360" cy="658368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73075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6"/>
                </a:solidFill>
                <a:latin typeface="Yu Gothic"/>
              </a:rPr>
              <a:t>IEMOCAP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3776472"/>
            <a:ext cx="960120" cy="2560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3781044"/>
            <a:ext cx="9601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英語・対話音声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730752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17263A"/>
                </a:solidFill>
                <a:latin typeface="Yu Gothic"/>
              </a:rPr>
              <a:t>感情分類・既存条件との比較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4434840"/>
            <a:ext cx="4023360" cy="658368"/>
          </a:xfrm>
          <a:prstGeom prst="roundRect">
            <a:avLst>
              <a:gd name="adj" fmla="val 8000"/>
            </a:avLst>
          </a:prstGeom>
          <a:solidFill>
            <a:srgbClr val="EAF7F2"/>
          </a:solidFill>
          <a:ln w="10160">
            <a:solidFill>
              <a:srgbClr val="E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455371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1F36"/>
                </a:solidFill>
                <a:latin typeface="Yu Gothic"/>
              </a:rPr>
              <a:t>その他公開データ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5728" y="4599431"/>
            <a:ext cx="960120" cy="25603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5728" y="4604003"/>
            <a:ext cx="9601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A878"/>
                </a:solidFill>
                <a:latin typeface="Yu Gothic"/>
              </a:rPr>
              <a:t>比較用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4553712"/>
            <a:ext cx="1261872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17263A"/>
                </a:solidFill>
                <a:latin typeface="Yu Gothic"/>
              </a:rPr>
              <a:t>言語差・データ差の追加検証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449824"/>
            <a:ext cx="385876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D65B5B"/>
                </a:solidFill>
                <a:latin typeface="Yu Gothic"/>
              </a:rPr>
              <a:t>注：不一致がある発話数・分類クラス内訳は掲載しない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04688" y="1463040"/>
            <a:ext cx="6025896" cy="4498848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0B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97296" y="1746504"/>
            <a:ext cx="1097280" cy="292608"/>
          </a:xfrm>
          <a:prstGeom prst="roundRect">
            <a:avLst>
              <a:gd name="adj" fmla="val 18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7296" y="1751075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97296" y="2194560"/>
            <a:ext cx="43891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Yu Gothic"/>
              </a:rPr>
              <a:t>汎化性能を分離して測る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97296" y="2770632"/>
            <a:ext cx="5431536" cy="749808"/>
          </a:xfrm>
          <a:prstGeom prst="roundRect">
            <a:avLst>
              <a:gd name="adj" fmla="val 8000"/>
            </a:avLst>
          </a:prstGeom>
          <a:solidFill>
            <a:srgbClr val="143653"/>
          </a:solidFill>
          <a:ln w="10160">
            <a:solidFill>
              <a:srgbClr val="29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4" y="2944368"/>
            <a:ext cx="9326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DE0E8"/>
                </a:solidFill>
                <a:latin typeface="Yu Gothic"/>
              </a:rPr>
              <a:t>LOSO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2953512"/>
            <a:ext cx="3611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話者単位で学習・評価を分離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3872" y="3794760"/>
            <a:ext cx="1234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0B7C9"/>
                </a:solidFill>
                <a:latin typeface="Yu Gothic"/>
              </a:rPr>
              <a:t>CCC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3176" y="3803904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0D2E3"/>
                </a:solidFill>
                <a:latin typeface="Yu Gothic"/>
              </a:rPr>
              <a:t>VA / VAD回帰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50224" y="3803904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Yu Gothic"/>
              </a:rPr>
              <a:t>予測と正解の一致度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33872" y="4187952"/>
            <a:ext cx="5148072" cy="0"/>
          </a:xfrm>
          <a:prstGeom prst="line">
            <a:avLst/>
          </a:prstGeom>
          <a:ln w="10160">
            <a:solidFill>
              <a:srgbClr val="294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33872" y="4379976"/>
            <a:ext cx="1234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C7BE5"/>
                </a:solidFill>
                <a:latin typeface="Yu Gothic"/>
              </a:rPr>
              <a:t>WA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3176" y="4389120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0D2E3"/>
                </a:solidFill>
                <a:latin typeface="Yu Gothic"/>
              </a:rPr>
              <a:t>感情分類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50224" y="4389120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Yu Gothic"/>
              </a:rPr>
              <a:t>全体の正解率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33872" y="4773168"/>
            <a:ext cx="5148072" cy="0"/>
          </a:xfrm>
          <a:prstGeom prst="line">
            <a:avLst/>
          </a:prstGeom>
          <a:ln w="10160">
            <a:solidFill>
              <a:srgbClr val="2949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33872" y="4965192"/>
            <a:ext cx="12344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8A878"/>
                </a:solidFill>
                <a:latin typeface="Yu Gothic"/>
              </a:rPr>
              <a:t>Macro-F1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23176" y="4974336"/>
            <a:ext cx="13258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0D2E3"/>
                </a:solidFill>
                <a:latin typeface="Yu Gothic"/>
              </a:rPr>
              <a:t>感情分類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0224" y="4974336"/>
            <a:ext cx="23317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Yu Gothic"/>
              </a:rPr>
              <a:t>各クラスを等しく評価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実験時はLOSOを基本とし、回帰はCCC、分類はWAとMacro-F1を主指標とする。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CURRENT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現在の処理経路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353312"/>
            <a:ext cx="914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8A878"/>
                </a:solidFill>
                <a:latin typeface="Yu Gothic"/>
              </a:rPr>
              <a:t>実装範囲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335024"/>
            <a:ext cx="49377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263A"/>
                </a:solidFill>
                <a:latin typeface="Yu Gothic"/>
              </a:rPr>
              <a:t>WAV入力から VA / VAD 出力までの配線を用意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99339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8176" y="2112264"/>
            <a:ext cx="493776" cy="493776"/>
          </a:xfrm>
          <a:prstGeom prst="ellipse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2148840"/>
            <a:ext cx="4937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816352"/>
            <a:ext cx="17190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B1F36"/>
                </a:solidFill>
                <a:latin typeface="Yu Gothic"/>
              </a:rPr>
              <a:t>WAV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461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184"/>
                </a:solidFill>
                <a:latin typeface="Yu Gothic"/>
              </a:rPr>
              <a:t>16 kHz
モノラル</a:t>
            </a:r>
          </a:p>
        </p:txBody>
      </p:sp>
      <p:sp>
        <p:nvSpPr>
          <p:cNvPr id="13" name="Chevron 12"/>
          <p:cNvSpPr/>
          <p:nvPr/>
        </p:nvSpPr>
        <p:spPr>
          <a:xfrm>
            <a:off x="2688336" y="2743200"/>
            <a:ext cx="182880" cy="347472"/>
          </a:xfrm>
          <a:prstGeom prst="chevron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6936" y="1874519"/>
            <a:ext cx="199339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66744" y="2112264"/>
            <a:ext cx="493776" cy="493776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66744" y="2148840"/>
            <a:ext cx="4937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2816352"/>
            <a:ext cx="17190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B1F36"/>
                </a:solidFill>
                <a:latin typeface="Yu Gothic"/>
              </a:rPr>
              <a:t>emotion2vec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2461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184"/>
                </a:solidFill>
                <a:latin typeface="Yu Gothic"/>
              </a:rPr>
              <a:t>特徴抽出
本体は固定</a:t>
            </a:r>
          </a:p>
        </p:txBody>
      </p:sp>
      <p:sp>
        <p:nvSpPr>
          <p:cNvPr id="19" name="Chevron 18"/>
          <p:cNvSpPr/>
          <p:nvPr/>
        </p:nvSpPr>
        <p:spPr>
          <a:xfrm>
            <a:off x="4946904" y="2743200"/>
            <a:ext cx="182880" cy="347472"/>
          </a:xfrm>
          <a:prstGeom prst="chevron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75504" y="1874519"/>
            <a:ext cx="199339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25312" y="2112264"/>
            <a:ext cx="493776" cy="493776"/>
          </a:xfrm>
          <a:prstGeom prst="ellipse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2148840"/>
            <a:ext cx="4937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2816352"/>
            <a:ext cx="17190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B1F36"/>
                </a:solidFill>
                <a:latin typeface="Yu Gothic"/>
              </a:rPr>
              <a:t>768次元特徴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2664" y="32461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184"/>
                </a:solidFill>
                <a:latin typeface="Yu Gothic"/>
              </a:rPr>
              <a:t>時間ごとの
フレーム表現</a:t>
            </a:r>
          </a:p>
        </p:txBody>
      </p:sp>
      <p:sp>
        <p:nvSpPr>
          <p:cNvPr id="25" name="Chevron 24"/>
          <p:cNvSpPr/>
          <p:nvPr/>
        </p:nvSpPr>
        <p:spPr>
          <a:xfrm>
            <a:off x="7205472" y="2743200"/>
            <a:ext cx="182880" cy="347472"/>
          </a:xfrm>
          <a:prstGeom prst="chevron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34072" y="1874519"/>
            <a:ext cx="199339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83880" y="2112264"/>
            <a:ext cx="493776" cy="493776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148840"/>
            <a:ext cx="4937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2" y="2816352"/>
            <a:ext cx="17190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B1F36"/>
                </a:solidFill>
                <a:latin typeface="Yu Gothic"/>
              </a:rPr>
              <a:t>発話単位に集約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71232" y="32461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184"/>
                </a:solidFill>
                <a:latin typeface="Yu Gothic"/>
              </a:rPr>
              <a:t>paddingを除外し
平均化</a:t>
            </a:r>
          </a:p>
        </p:txBody>
      </p:sp>
      <p:sp>
        <p:nvSpPr>
          <p:cNvPr id="31" name="Chevron 30"/>
          <p:cNvSpPr/>
          <p:nvPr/>
        </p:nvSpPr>
        <p:spPr>
          <a:xfrm>
            <a:off x="9464040" y="2743200"/>
            <a:ext cx="182880" cy="347472"/>
          </a:xfrm>
          <a:prstGeom prst="chevron">
            <a:avLst/>
          </a:prstGeom>
          <a:solidFill>
            <a:srgbClr val="AEBC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92640" y="1874519"/>
            <a:ext cx="1993392" cy="2176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28A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42448" y="2112264"/>
            <a:ext cx="493776" cy="493776"/>
          </a:xfrm>
          <a:prstGeom prst="ellipse">
            <a:avLst/>
          </a:prstGeom>
          <a:solidFill>
            <a:srgbClr val="2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2148840"/>
            <a:ext cx="493776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816352"/>
            <a:ext cx="1719072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0B1F36"/>
                </a:solidFill>
                <a:latin typeface="Yu Gothic"/>
              </a:rPr>
              <a:t>回帰ヘッド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246120"/>
            <a:ext cx="1719072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07184"/>
                </a:solidFill>
                <a:latin typeface="Yu Gothic"/>
              </a:rPr>
              <a:t>小型MLP
学習対象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65960" y="4498848"/>
            <a:ext cx="8275320" cy="1088136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0B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86000" y="4773168"/>
            <a:ext cx="804672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84DDE5"/>
                </a:solidFill>
                <a:latin typeface="Yu Gothic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4681728"/>
            <a:ext cx="452628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VA</a:t>
            </a:r>
            <a:r>
              <a:rPr sz="1200" b="0">
                <a:solidFill>
                  <a:srgbClr val="AFC7DC"/>
                </a:solidFill>
                <a:latin typeface="Yu Gothic"/>
              </a:rPr>
              <a:t>  または  </a:t>
            </a:r>
            <a:r>
              <a:rPr sz="2200" b="1">
                <a:solidFill>
                  <a:srgbClr val="FFFFFF"/>
                </a:solidFill>
                <a:latin typeface="Yu Gothic"/>
              </a:rPr>
              <a:t>VAD</a:t>
            </a:r>
            <a:r>
              <a:rPr sz="1200" b="0">
                <a:solidFill>
                  <a:srgbClr val="AFC7DC"/>
                </a:solidFill>
                <a:latin typeface="Yu Gothic"/>
              </a:rPr>
              <a:t>    各値 -1〜1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9327" y="4846320"/>
            <a:ext cx="1042415" cy="292608"/>
          </a:xfrm>
          <a:prstGeom prst="roundRect">
            <a:avLst>
              <a:gd name="adj" fmla="val 18000"/>
            </a:avLst>
          </a:prstGeom>
          <a:solidFill>
            <a:srgbClr val="193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39327" y="4850892"/>
            <a:ext cx="1042415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JSON推論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06040" y="5797296"/>
            <a:ext cx="6995160" cy="384048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0160">
            <a:solidFill>
              <a:srgbClr val="F0D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61488" y="5897880"/>
            <a:ext cx="667512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0B1F36"/>
                </a:solidFill>
                <a:latin typeface="Yu Gothic"/>
              </a:rPr>
              <a:t>未実施：emotion2vec本体のfine-tuning ／ 実チェックポイントによる性能評価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現在の学習対象は回帰ヘッドのみ。emotion2vec本体は固定特徴抽出器として扱う。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実装済み機能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99616"/>
            <a:ext cx="532180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" y="1719072"/>
            <a:ext cx="694944" cy="1499616"/>
          </a:xfrm>
          <a:prstGeom prst="roundRect">
            <a:avLst>
              <a:gd name="adj" fmla="val 8000"/>
            </a:avLst>
          </a:prstGeom>
          <a:solidFill>
            <a:srgbClr val="EAF3FD"/>
          </a:solidFill>
          <a:ln w="10160">
            <a:solidFill>
              <a:srgbClr val="EAF3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6949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7BE5"/>
                </a:solidFill>
                <a:latin typeface="Yu Gothic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1024128" y="2569463"/>
            <a:ext cx="365760" cy="365760"/>
          </a:xfrm>
          <a:prstGeom prst="ellipse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39"/>
            <a:ext cx="3657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792224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データ検証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304288"/>
            <a:ext cx="37673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7263A"/>
                </a:solidFill>
                <a:latin typeface="Yu Gothic"/>
              </a:rPr>
              <a:t>特徴量・長さ・ラベルの件数、次元、範囲を検査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35224"/>
            <a:ext cx="932688" cy="292608"/>
          </a:xfrm>
          <a:prstGeom prst="roundRect">
            <a:avLst>
              <a:gd name="adj" fmla="val 18000"/>
            </a:avLst>
          </a:prstGeom>
          <a:solidFill>
            <a:srgbClr val="EA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939796"/>
            <a:ext cx="932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C7BE5"/>
                </a:solidFill>
                <a:latin typeface="Yu Gothic"/>
              </a:rPr>
              <a:t>実装済み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99616"/>
            <a:ext cx="532180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1719072"/>
            <a:ext cx="694944" cy="1499616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920240"/>
            <a:ext cx="6949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0B7C9"/>
                </a:solidFill>
                <a:latin typeface="Yu Gothic"/>
              </a:rPr>
              <a:t>02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569463"/>
            <a:ext cx="365760" cy="365760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606039"/>
            <a:ext cx="3657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1792224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学習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304288"/>
            <a:ext cx="37673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7263A"/>
                </a:solidFill>
                <a:latin typeface="Yu Gothic"/>
              </a:rPr>
              <a:t>可変長batchからVA / VAD回帰ヘッドを学習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2935224"/>
            <a:ext cx="932688" cy="292608"/>
          </a:xfrm>
          <a:prstGeom prst="roundRect">
            <a:avLst>
              <a:gd name="adj" fmla="val 18000"/>
            </a:avLst>
          </a:prstGeom>
          <a:solidFill>
            <a:srgbClr val="E8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2939796"/>
            <a:ext cx="932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実装済み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858768"/>
            <a:ext cx="532180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" y="4078224"/>
            <a:ext cx="694944" cy="1499616"/>
          </a:xfrm>
          <a:prstGeom prst="roundRect">
            <a:avLst>
              <a:gd name="adj" fmla="val 8000"/>
            </a:avLst>
          </a:prstGeom>
          <a:solidFill>
            <a:srgbClr val="EAF7F2"/>
          </a:solidFill>
          <a:ln w="10160">
            <a:solidFill>
              <a:srgbClr val="E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279392"/>
            <a:ext cx="6949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8A878"/>
                </a:solidFill>
                <a:latin typeface="Yu Gothic"/>
              </a:rPr>
              <a:t>03</a:t>
            </a:r>
          </a:p>
        </p:txBody>
      </p:sp>
      <p:sp>
        <p:nvSpPr>
          <p:cNvPr id="27" name="Oval 26"/>
          <p:cNvSpPr/>
          <p:nvPr/>
        </p:nvSpPr>
        <p:spPr>
          <a:xfrm>
            <a:off x="1024128" y="4928616"/>
            <a:ext cx="365760" cy="365760"/>
          </a:xfrm>
          <a:prstGeom prst="ellipse">
            <a:avLst/>
          </a:prstGeom>
          <a:solidFill>
            <a:srgbClr val="2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965192"/>
            <a:ext cx="3657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1368" y="4151376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最良モデル保存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01368" y="4663440"/>
            <a:ext cx="37673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7263A"/>
                </a:solidFill>
                <a:latin typeface="Yu Gothic"/>
              </a:rPr>
              <a:t>検証mean CCCが最大のcheckpointを保存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5294376"/>
            <a:ext cx="932688" cy="292608"/>
          </a:xfrm>
          <a:prstGeom prst="roundRect">
            <a:avLst>
              <a:gd name="adj" fmla="val 18000"/>
            </a:avLst>
          </a:prstGeom>
          <a:solidFill>
            <a:srgbClr val="E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5298948"/>
            <a:ext cx="932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A878"/>
                </a:solidFill>
                <a:latin typeface="Yu Gothic"/>
              </a:rPr>
              <a:t>実装済み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858768"/>
            <a:ext cx="5321808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088" y="4078224"/>
            <a:ext cx="694944" cy="1499616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0160">
            <a:solidFill>
              <a:srgbClr val="FFF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279392"/>
            <a:ext cx="694944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9A23B"/>
                </a:solidFill>
                <a:latin typeface="Yu Gothic"/>
              </a:rPr>
              <a:t>04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4928616"/>
            <a:ext cx="365760" cy="365760"/>
          </a:xfrm>
          <a:prstGeom prst="ellipse">
            <a:avLst/>
          </a:prstGeom>
          <a:solidFill>
            <a:srgbClr val="E9A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965192"/>
            <a:ext cx="3657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0920" y="4151376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B1F36"/>
                </a:solidFill>
                <a:latin typeface="Yu Gothic"/>
              </a:rPr>
              <a:t>JSON推論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4663440"/>
            <a:ext cx="3767328" cy="6035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>
                <a:solidFill>
                  <a:srgbClr val="17263A"/>
                </a:solidFill>
                <a:latin typeface="Yu Gothic"/>
              </a:rPr>
              <a:t>WAVと保存済みheadから予測値をJSON出力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41280" y="5294376"/>
            <a:ext cx="932688" cy="292608"/>
          </a:xfrm>
          <a:prstGeom prst="roundRect">
            <a:avLst>
              <a:gd name="adj" fmla="val 18000"/>
            </a:avLst>
          </a:prstGeom>
          <a:solidFill>
            <a:srgbClr val="FFF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5298948"/>
            <a:ext cx="9326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実装済み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公開APIと研究コードは変更せず、既存実装の状態を資料へ反映。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検証状況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840480" cy="4526280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0B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92224"/>
            <a:ext cx="1389888" cy="292608"/>
          </a:xfrm>
          <a:prstGeom prst="roundRect">
            <a:avLst>
              <a:gd name="adj" fmla="val 18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96795"/>
            <a:ext cx="138988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CODE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86000"/>
            <a:ext cx="2194560" cy="78638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Yu Gothic"/>
              </a:rPr>
              <a:t>32</a:t>
            </a:r>
            <a:r>
              <a:rPr sz="1900" b="1">
                <a:solidFill>
                  <a:srgbClr val="FFFFFF"/>
                </a:solidFill>
                <a:latin typeface="Yu Gothic"/>
              </a:rPr>
              <a:t> 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090672"/>
            <a:ext cx="24231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Yu Gothic"/>
              </a:rPr>
              <a:t>自動テスト成功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94760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C3D5E6"/>
                </a:solidFill>
                <a:latin typeface="Yu Gothic"/>
              </a:rPr>
              <a:t>データ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3817620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34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11680" y="3817620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3776472"/>
            <a:ext cx="320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14223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C3D5E6"/>
                </a:solidFill>
                <a:latin typeface="Yu Gothic"/>
              </a:rPr>
              <a:t>モデル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165092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34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11680" y="4165092"/>
            <a:ext cx="865632" cy="128016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4123944"/>
            <a:ext cx="320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89704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C3D5E6"/>
                </a:solidFill>
                <a:latin typeface="Yu Gothic"/>
              </a:rPr>
              <a:t>推論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512564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34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11680" y="4512564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4471416"/>
            <a:ext cx="320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Yu Gothic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837176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C3D5E6"/>
                </a:solidFill>
                <a:latin typeface="Yu Gothic"/>
              </a:rPr>
              <a:t>学習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860036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34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11680" y="4860036"/>
            <a:ext cx="865632" cy="128016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818888"/>
            <a:ext cx="320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184648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C3D5E6"/>
                </a:solidFill>
                <a:latin typeface="Yu Gothic"/>
              </a:rPr>
              <a:t>学習CLI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11680" y="5207508"/>
            <a:ext cx="1298448" cy="128016"/>
          </a:xfrm>
          <a:prstGeom prst="roundRect">
            <a:avLst>
              <a:gd name="adj" fmla="val 25000"/>
            </a:avLst>
          </a:prstGeom>
          <a:solidFill>
            <a:srgbClr val="34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11680" y="5207508"/>
            <a:ext cx="288544" cy="128016"/>
          </a:xfrm>
          <a:prstGeom prst="roundRect">
            <a:avLst>
              <a:gd name="adj" fmla="val 25000"/>
            </a:avLst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5166360"/>
            <a:ext cx="3200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" y="5532120"/>
            <a:ext cx="1115568" cy="292608"/>
          </a:xfrm>
          <a:prstGeom prst="roundRect">
            <a:avLst>
              <a:gd name="adj" fmla="val 18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5536692"/>
            <a:ext cx="111556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WSL / Ubuntu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82312" y="1481328"/>
            <a:ext cx="6748272" cy="1938528"/>
          </a:xfrm>
          <a:prstGeom prst="roundRect">
            <a:avLst>
              <a:gd name="adj" fmla="val 8000"/>
            </a:avLst>
          </a:prstGeom>
          <a:solidFill>
            <a:srgbClr val="EAF7F2"/>
          </a:solidFill>
          <a:ln w="10160">
            <a:solidFill>
              <a:srgbClr val="BFE5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084064" y="1773936"/>
            <a:ext cx="1188720" cy="2926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1778507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8A878"/>
                </a:solidFill>
                <a:latin typeface="Yu Gothic"/>
              </a:rPr>
              <a:t>確認できたこと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84064" y="2258568"/>
            <a:ext cx="507492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コードの振る舞いと入出力契約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84064" y="2688336"/>
            <a:ext cx="5833872" cy="603504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>
                <a:solidFill>
                  <a:srgbClr val="28A878"/>
                </a:solidFill>
                <a:latin typeface="Yu Gothic"/>
              </a:rPr>
              <a:t>●  </a:t>
            </a:r>
            <a:r>
              <a:rPr sz="1150">
                <a:solidFill>
                  <a:srgbClr val="17263A"/>
                </a:solidFill>
                <a:latin typeface="Yu Gothic"/>
              </a:rPr>
              <a:t>データ不整合を検出できる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>
                <a:solidFill>
                  <a:srgbClr val="28A878"/>
                </a:solidFill>
                <a:latin typeface="Yu Gothic"/>
              </a:rPr>
              <a:t>●  </a:t>
            </a:r>
            <a:r>
              <a:rPr sz="1150">
                <a:solidFill>
                  <a:srgbClr val="17263A"/>
                </a:solidFill>
                <a:latin typeface="Yu Gothic"/>
              </a:rPr>
              <a:t>学習・評価・保存・読み込みが一連で動く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82312" y="3703320"/>
            <a:ext cx="6748272" cy="2304288"/>
          </a:xfrm>
          <a:prstGeom prst="roundRect">
            <a:avLst>
              <a:gd name="adj" fmla="val 8000"/>
            </a:avLst>
          </a:prstGeom>
          <a:solidFill>
            <a:srgbClr val="FFF5E5"/>
          </a:solidFill>
          <a:ln w="10160">
            <a:solidFill>
              <a:srgbClr val="EFD4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84064" y="3995928"/>
            <a:ext cx="749808" cy="29260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4064" y="4000500"/>
            <a:ext cx="7498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E9A23B"/>
                </a:solidFill>
                <a:latin typeface="Yu Gothic"/>
              </a:rPr>
              <a:t>未評価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4462272"/>
            <a:ext cx="5257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0B1F36"/>
                </a:solidFill>
                <a:latin typeface="Yu Gothic"/>
              </a:rPr>
              <a:t>研究性能はまだ判断できない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4064" y="4919472"/>
            <a:ext cx="5870448" cy="84124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>
                <a:solidFill>
                  <a:srgbClr val="E9A23B"/>
                </a:solidFill>
                <a:latin typeface="Yu Gothic"/>
              </a:rPr>
              <a:t>●  </a:t>
            </a:r>
            <a:r>
              <a:rPr sz="1150">
                <a:solidFill>
                  <a:srgbClr val="17263A"/>
                </a:solidFill>
                <a:latin typeface="Yu Gothic"/>
              </a:rPr>
              <a:t>実データでのCCC・WA・Macro-F1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>
                <a:solidFill>
                  <a:srgbClr val="E9A23B"/>
                </a:solidFill>
                <a:latin typeface="Yu Gothic"/>
              </a:rPr>
              <a:t>●  </a:t>
            </a:r>
            <a:r>
              <a:rPr sz="1150">
                <a:solidFill>
                  <a:srgbClr val="17263A"/>
                </a:solidFill>
                <a:latin typeface="Yu Gothic"/>
              </a:rPr>
              <a:t>実emotion2vec重みによるend-to-end疎通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800">
                <a:solidFill>
                  <a:srgbClr val="E9A23B"/>
                </a:solidFill>
                <a:latin typeface="Yu Gothic"/>
              </a:rPr>
              <a:t>●  </a:t>
            </a:r>
            <a:r>
              <a:rPr sz="1150">
                <a:solidFill>
                  <a:srgbClr val="17263A"/>
                </a:solidFill>
                <a:latin typeface="Yu Gothic"/>
              </a:rPr>
              <a:t>分類実験・fine-tuningの効果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32件成功＝実装検証。実性能の高さを示す結果ではない。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GAP &amp;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4698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1F36"/>
                </a:solidFill>
                <a:latin typeface="Yu Gothic"/>
              </a:rPr>
              <a:t>未完了事項・計画との差分・今後の優先順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0232" y="32004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607184"/>
                </a:solidFill>
                <a:latin typeface="Yu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640080" cy="411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435608"/>
            <a:ext cx="6656832" cy="4599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19072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07184"/>
                </a:solidFill>
                <a:latin typeface="Yu Gothic"/>
              </a:rPr>
              <a:t>計画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19072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07184"/>
                </a:solidFill>
                <a:latin typeface="Yu Gothic"/>
              </a:rPr>
              <a:t>現状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1719072"/>
            <a:ext cx="105156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07184"/>
                </a:solidFill>
                <a:latin typeface="Yu Gothic"/>
              </a:rPr>
              <a:t>差分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2148840"/>
            <a:ext cx="6099048" cy="6217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7007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日本語fine-tuning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2313432"/>
            <a:ext cx="1344168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2318004"/>
            <a:ext cx="1344168" cy="2560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D65B5B"/>
                </a:solidFill>
                <a:latin typeface="Yu Gothic"/>
              </a:rPr>
              <a:t>未実施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22576"/>
            <a:ext cx="2066543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63A"/>
                </a:solidFill>
                <a:latin typeface="Yu Gothic"/>
              </a:rPr>
              <a:t>学習条件・重み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2990088"/>
            <a:ext cx="6099048" cy="621792"/>
          </a:xfrm>
          <a:prstGeom prst="roundRect">
            <a:avLst>
              <a:gd name="adj" fmla="val 8000"/>
            </a:avLst>
          </a:prstGeom>
          <a:solidFill>
            <a:srgbClr val="E8F8FA"/>
          </a:solidFill>
          <a:ln w="10160"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163824"/>
            <a:ext cx="17007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VA / VAD回帰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3154680"/>
            <a:ext cx="1344168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4368" y="3159252"/>
            <a:ext cx="1344168" cy="2560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20B7C9"/>
                </a:solidFill>
                <a:latin typeface="Yu Gothic"/>
              </a:rPr>
              <a:t>head実装済み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63824"/>
            <a:ext cx="2066543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63A"/>
                </a:solidFill>
                <a:latin typeface="Yu Gothic"/>
              </a:rPr>
              <a:t>実データCCC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831336"/>
            <a:ext cx="6099048" cy="6217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05072"/>
            <a:ext cx="17007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感情分類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44368" y="3995928"/>
            <a:ext cx="1344168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44368" y="4000500"/>
            <a:ext cx="1344168" cy="2560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D65B5B"/>
                </a:solidFill>
                <a:latin typeface="Yu Gothic"/>
              </a:rPr>
              <a:t>未実施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005072"/>
            <a:ext cx="2066543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63A"/>
                </a:solidFill>
                <a:latin typeface="Yu Gothic"/>
              </a:rPr>
              <a:t>分類器・WA / 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672584"/>
            <a:ext cx="6099048" cy="621792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17007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B1F36"/>
                </a:solidFill>
                <a:latin typeface="Yu Gothic"/>
              </a:rPr>
              <a:t>比較評価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44368" y="4837176"/>
            <a:ext cx="1344168" cy="27432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4368" y="4841748"/>
            <a:ext cx="1344168" cy="2560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D65B5B"/>
                </a:solidFill>
                <a:latin typeface="Yu Gothic"/>
              </a:rPr>
              <a:t>未実施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846320"/>
            <a:ext cx="2066543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7263A"/>
                </a:solidFill>
                <a:latin typeface="Yu Gothic"/>
              </a:rPr>
              <a:t>比較実験一式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" y="5577840"/>
            <a:ext cx="5879592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07184"/>
                </a:solidFill>
                <a:latin typeface="Yu Gothic"/>
              </a:rPr>
              <a:t>研究全体では『実装基盤の完成』段階。実験結果はこれから。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0375" y="1435608"/>
            <a:ext cx="3950208" cy="4599432"/>
          </a:xfrm>
          <a:prstGeom prst="roundRect">
            <a:avLst>
              <a:gd name="adj" fmla="val 8000"/>
            </a:avLst>
          </a:prstGeom>
          <a:solidFill>
            <a:srgbClr val="0B1F36"/>
          </a:solidFill>
          <a:ln w="10160">
            <a:solidFill>
              <a:srgbClr val="0B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82127" y="1719072"/>
            <a:ext cx="841248" cy="292608"/>
          </a:xfrm>
          <a:prstGeom prst="roundRect">
            <a:avLst>
              <a:gd name="adj" fmla="val 18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82127" y="1723643"/>
            <a:ext cx="84124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PRIORITY</a:t>
            </a:r>
          </a:p>
        </p:txBody>
      </p:sp>
      <p:sp>
        <p:nvSpPr>
          <p:cNvPr id="34" name="Oval 33"/>
          <p:cNvSpPr/>
          <p:nvPr/>
        </p:nvSpPr>
        <p:spPr>
          <a:xfrm>
            <a:off x="7882127" y="2304288"/>
            <a:ext cx="438912" cy="438912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82127" y="2340864"/>
            <a:ext cx="438912" cy="36575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295144"/>
            <a:ext cx="255117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実データを学習形式へ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587752"/>
            <a:ext cx="2587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BFD1E2"/>
                </a:solidFill>
                <a:latin typeface="Yu Gothic"/>
              </a:rPr>
              <a:t>特徴・長さ・VADラベルを整備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01583" y="2770632"/>
            <a:ext cx="0" cy="301752"/>
          </a:xfrm>
          <a:prstGeom prst="line">
            <a:avLst/>
          </a:prstGeom>
          <a:ln w="17780">
            <a:solidFill>
              <a:srgbClr val="41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882127" y="3118104"/>
            <a:ext cx="438912" cy="438912"/>
          </a:xfrm>
          <a:prstGeom prst="ellipse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3154680"/>
            <a:ext cx="438912" cy="36575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3108960"/>
            <a:ext cx="255117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回帰headを学習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401568"/>
            <a:ext cx="2587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BFD1E2"/>
                </a:solidFill>
                <a:latin typeface="Yu Gothic"/>
              </a:rPr>
              <a:t>LOSOでCCCと失敗例を確認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01583" y="3584448"/>
            <a:ext cx="0" cy="301752"/>
          </a:xfrm>
          <a:prstGeom prst="line">
            <a:avLst/>
          </a:prstGeom>
          <a:ln w="17780">
            <a:solidFill>
              <a:srgbClr val="41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882127" y="3931920"/>
            <a:ext cx="438912" cy="438912"/>
          </a:xfrm>
          <a:prstGeom prst="ellipse">
            <a:avLst/>
          </a:prstGeom>
          <a:solidFill>
            <a:srgbClr val="47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2127" y="3968496"/>
            <a:ext cx="438912" cy="36575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03920" y="3922776"/>
            <a:ext cx="255117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分類経路を実装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215383"/>
            <a:ext cx="2587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BFD1E2"/>
                </a:solidFill>
                <a:latin typeface="Yu Gothic"/>
              </a:rPr>
              <a:t>WA / Macro-F1を測定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01583" y="4398264"/>
            <a:ext cx="0" cy="301752"/>
          </a:xfrm>
          <a:prstGeom prst="line">
            <a:avLst/>
          </a:prstGeom>
          <a:ln w="17780">
            <a:solidFill>
              <a:srgbClr val="416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882127" y="4745736"/>
            <a:ext cx="438912" cy="438912"/>
          </a:xfrm>
          <a:prstGeom prst="ellipse">
            <a:avLst/>
          </a:prstGeom>
          <a:solidFill>
            <a:srgbClr val="476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4782312"/>
            <a:ext cx="438912" cy="36575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4736592"/>
            <a:ext cx="2551176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fine-tuning・比較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029199"/>
            <a:ext cx="2587752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0">
                <a:solidFill>
                  <a:srgbClr val="BFD1E2"/>
                </a:solidFill>
                <a:latin typeface="Yu Gothic"/>
              </a:rPr>
              <a:t>固定特徴との差を検証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72983" y="5559552"/>
            <a:ext cx="3355848" cy="283464"/>
          </a:xfrm>
          <a:prstGeom prst="roundRect">
            <a:avLst>
              <a:gd name="adj" fmla="val 8000"/>
            </a:avLst>
          </a:prstGeom>
          <a:solidFill>
            <a:srgbClr val="173A58"/>
          </a:solidFill>
          <a:ln w="10160">
            <a:solidFill>
              <a:srgbClr val="17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5614416"/>
            <a:ext cx="3099816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8DE0E8"/>
                </a:solidFill>
                <a:latin typeface="Yu Gothic"/>
              </a:rPr>
              <a:t>最優先：実データCCC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6446520"/>
            <a:ext cx="10991088" cy="10972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03504" y="6501384"/>
            <a:ext cx="108813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9" b="0">
                <a:solidFill>
                  <a:srgbClr val="607184"/>
                </a:solidFill>
                <a:latin typeface="Yu Gothic"/>
              </a:rPr>
              <a:t>優先順は『数値で現在地を示す』ことを最短距離に置く。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15400" y="-1298448"/>
            <a:ext cx="4023360" cy="4023360"/>
          </a:xfrm>
          <a:prstGeom prst="ellipse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48640"/>
            <a:ext cx="859536" cy="292608"/>
          </a:xfrm>
          <a:prstGeom prst="roundRect">
            <a:avLst>
              <a:gd name="adj" fmla="val 18000"/>
            </a:avLst>
          </a:prstGeom>
          <a:solidFill>
            <a:srgbClr val="173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53212"/>
            <a:ext cx="859536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DE0E8"/>
                </a:solidFill>
                <a:latin typeface="Yu 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33271"/>
            <a:ext cx="45720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Yu Gothic"/>
              </a:rPr>
              <a:t>まとめ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38528"/>
            <a:ext cx="3383280" cy="2176272"/>
          </a:xfrm>
          <a:prstGeom prst="roundRect">
            <a:avLst>
              <a:gd name="adj" fmla="val 8000"/>
            </a:avLst>
          </a:prstGeom>
          <a:solidFill>
            <a:srgbClr val="153754"/>
          </a:solidFill>
          <a:ln w="10160">
            <a:solidFill>
              <a:srgbClr val="29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41832" y="2212848"/>
            <a:ext cx="1051560" cy="292608"/>
          </a:xfrm>
          <a:prstGeom prst="roundRect">
            <a:avLst>
              <a:gd name="adj" fmla="val 18000"/>
            </a:avLst>
          </a:prstGeom>
          <a:solidFill>
            <a:srgbClr val="1D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217420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1DFE7"/>
                </a:solidFill>
                <a:latin typeface="Yu Gothic"/>
              </a:rPr>
              <a:t>達成内容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834640"/>
            <a:ext cx="2862072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固定emotion2vec特徴を使う
VA / VAD回帰基盤を実装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59352"/>
            <a:ext cx="3383280" cy="155448"/>
          </a:xfrm>
          <a:prstGeom prst="rect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938528"/>
            <a:ext cx="3383280" cy="2176272"/>
          </a:xfrm>
          <a:prstGeom prst="roundRect">
            <a:avLst>
              <a:gd name="adj" fmla="val 8000"/>
            </a:avLst>
          </a:prstGeom>
          <a:solidFill>
            <a:srgbClr val="153754"/>
          </a:solidFill>
          <a:ln w="10160">
            <a:solidFill>
              <a:srgbClr val="29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2212848"/>
            <a:ext cx="1051560" cy="292608"/>
          </a:xfrm>
          <a:prstGeom prst="roundRect">
            <a:avLst>
              <a:gd name="adj" fmla="val 18000"/>
            </a:avLst>
          </a:prstGeom>
          <a:solidFill>
            <a:srgbClr val="1D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217420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1DFE7"/>
                </a:solidFill>
                <a:latin typeface="Yu Gothic"/>
              </a:rPr>
              <a:t>現在地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862072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32件の自動テスト成功
実性能は未評価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07408" y="3959352"/>
            <a:ext cx="3383280" cy="155448"/>
          </a:xfrm>
          <a:prstGeom prst="rect">
            <a:avLst/>
          </a:prstGeom>
          <a:solidFill>
            <a:srgbClr val="20B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29016" y="1938528"/>
            <a:ext cx="3383280" cy="2176272"/>
          </a:xfrm>
          <a:prstGeom prst="roundRect">
            <a:avLst>
              <a:gd name="adj" fmla="val 8000"/>
            </a:avLst>
          </a:prstGeom>
          <a:solidFill>
            <a:srgbClr val="153754"/>
          </a:solidFill>
          <a:ln w="10160">
            <a:solidFill>
              <a:srgbClr val="294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85048" y="2212848"/>
            <a:ext cx="1051560" cy="292608"/>
          </a:xfrm>
          <a:prstGeom prst="roundRect">
            <a:avLst>
              <a:gd name="adj" fmla="val 18000"/>
            </a:avLst>
          </a:prstGeom>
          <a:solidFill>
            <a:srgbClr val="1D4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2217420"/>
            <a:ext cx="1051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8BE0BD"/>
                </a:solidFill>
                <a:latin typeface="Yu Gothic"/>
              </a:rPr>
              <a:t>次の到達点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834640"/>
            <a:ext cx="2862072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Yu Gothic"/>
              </a:rPr>
              <a:t>実データCCCを
根拠付きで報告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9016" y="3959352"/>
            <a:ext cx="3383280" cy="155448"/>
          </a:xfrm>
          <a:prstGeom prst="rect">
            <a:avLst/>
          </a:prstGeom>
          <a:solidFill>
            <a:srgbClr val="28A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08760" y="4736592"/>
            <a:ext cx="91714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10512" y="493776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C7BE5"/>
                </a:solidFill>
                <a:latin typeface="Yu Gothic"/>
              </a:rPr>
              <a:t>NEXT MILESTONE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4864608"/>
            <a:ext cx="3931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B1F36"/>
                </a:solidFill>
                <a:latin typeface="Yu Gothic"/>
              </a:rPr>
              <a:t>実データCCCの報告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956048"/>
            <a:ext cx="2816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07184"/>
                </a:solidFill>
                <a:latin typeface="Yu Gothic"/>
              </a:rPr>
              <a:t>→ 研究性能を初めて数値で判断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6318504"/>
            <a:ext cx="5029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B8CCDE"/>
                </a:solidFill>
                <a:latin typeface="Yu Gothic"/>
              </a:rPr>
              <a:t>23RD004  秋山叶太  ｜  2026年6月22日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研究計画・進捗報告 統合版</dc:title>
  <dc:subject>emotion2vecを用いた日本語音声感情認識の構築と評価</dc:subject>
  <dc:creator>23RD004 秋山叶太</dc:creator>
  <cp:keywords/>
  <dc:description>2026年6月22日時点。固定emotion2vec特徴を用いるVA/VAD回帰経路まで実装。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