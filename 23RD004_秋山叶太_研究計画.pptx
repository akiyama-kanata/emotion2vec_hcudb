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dirty="0"/>
              <a:t>音声感情認識モデルの </a:t>
            </a:r>
            <a:r>
              <a:rPr lang="en-US" altLang="ja-JP" sz="2800" dirty="0"/>
              <a:t>fine-tuning</a:t>
            </a:r>
            <a:r>
              <a:rPr lang="ja-JP" altLang="en-US" sz="2800" dirty="0"/>
              <a:t> による</a:t>
            </a:r>
            <a:r>
              <a:rPr sz="2800" dirty="0" err="1"/>
              <a:t>日本語適用と精度評価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33333"/>
                </a:solidFill>
              </a:rPr>
              <a:t>23RD004 秋山 叶太</a:t>
            </a:r>
          </a:p>
          <a:p>
            <a:pPr algn="ctr"/>
            <a:r>
              <a:rPr sz="1800">
                <a:solidFill>
                  <a:srgbClr val="333333"/>
                </a:solidFill>
              </a:rPr>
              <a:t>日付：2026年 4月30日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1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背景・動機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14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1. </a:t>
            </a:r>
            <a:r>
              <a:rPr sz="2800" dirty="0" err="1">
                <a:solidFill>
                  <a:srgbClr val="333333"/>
                </a:solidFill>
              </a:rPr>
              <a:t>音声感情認識（SER）の社会的応用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メンタルヘルス支援</a:t>
            </a:r>
            <a:r>
              <a:rPr sz="2800" dirty="0">
                <a:solidFill>
                  <a:srgbClr val="333333"/>
                </a:solidFill>
              </a:rPr>
              <a:t> / </a:t>
            </a:r>
            <a:r>
              <a:rPr sz="2800" dirty="0" err="1">
                <a:solidFill>
                  <a:srgbClr val="333333"/>
                </a:solidFill>
              </a:rPr>
              <a:t>対話システム</a:t>
            </a:r>
            <a:r>
              <a:rPr sz="2800" dirty="0">
                <a:solidFill>
                  <a:srgbClr val="333333"/>
                </a:solidFill>
              </a:rPr>
              <a:t> / </a:t>
            </a:r>
            <a:r>
              <a:rPr sz="2800" dirty="0" err="1">
                <a:solidFill>
                  <a:srgbClr val="333333"/>
                </a:solidFill>
              </a:rPr>
              <a:t>音声インタフェース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2. emotion2vec </a:t>
            </a:r>
            <a:r>
              <a:rPr sz="2800" dirty="0" err="1">
                <a:solidFill>
                  <a:srgbClr val="333333"/>
                </a:solidFill>
              </a:rPr>
              <a:t>の登場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音声感情</a:t>
            </a:r>
            <a:r>
              <a:rPr lang="ja-JP" altLang="en-US" sz="2800" dirty="0">
                <a:solidFill>
                  <a:srgbClr val="333333"/>
                </a:solidFill>
              </a:rPr>
              <a:t>認識</a:t>
            </a:r>
            <a:r>
              <a:rPr sz="2800" dirty="0" err="1">
                <a:solidFill>
                  <a:srgbClr val="333333"/>
                </a:solidFill>
              </a:rPr>
              <a:t>のための自己教師あり事前学習モデル（英語・中国語等で有効性実証済み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日本語への適用は未検証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日本語</a:t>
            </a:r>
            <a:r>
              <a:rPr sz="2800" dirty="0">
                <a:solidFill>
                  <a:srgbClr val="333333"/>
                </a:solidFill>
              </a:rPr>
              <a:t> fine-tuning </a:t>
            </a:r>
            <a:r>
              <a:rPr sz="2800" dirty="0" err="1">
                <a:solidFill>
                  <a:srgbClr val="333333"/>
                </a:solidFill>
              </a:rPr>
              <a:t>の報告なし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4. </a:t>
            </a:r>
            <a:r>
              <a:rPr sz="2800" dirty="0" err="1">
                <a:solidFill>
                  <a:srgbClr val="333333"/>
                </a:solidFill>
              </a:rPr>
              <a:t>本研究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日本語</a:t>
            </a:r>
            <a:r>
              <a:rPr sz="2800" dirty="0">
                <a:solidFill>
                  <a:srgbClr val="333333"/>
                </a:solidFill>
              </a:rPr>
              <a:t> fine-tuning </a:t>
            </a:r>
            <a:r>
              <a:rPr sz="2800" dirty="0" err="1">
                <a:solidFill>
                  <a:srgbClr val="333333"/>
                </a:solidFill>
              </a:rPr>
              <a:t>による精度向上の検証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先行研究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1. emotion2vec（Ma et al., 2024）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音声感情</a:t>
            </a:r>
            <a:r>
              <a:rPr lang="ja-JP" altLang="en-US" sz="2800" dirty="0">
                <a:solidFill>
                  <a:srgbClr val="333333"/>
                </a:solidFill>
              </a:rPr>
              <a:t>認識</a:t>
            </a:r>
            <a:r>
              <a:rPr sz="2800" dirty="0" err="1">
                <a:solidFill>
                  <a:srgbClr val="333333"/>
                </a:solidFill>
              </a:rPr>
              <a:t>のための自己教師あり事前学習の汎用モデル／本研究のベースモデル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2. wav2vec 2.0</a:t>
            </a:r>
            <a:r>
              <a:rPr lang="ja-JP" altLang="en-US" sz="2800" dirty="0">
                <a:solidFill>
                  <a:srgbClr val="333333"/>
                </a:solidFill>
              </a:rPr>
              <a:t> </a:t>
            </a:r>
            <a:r>
              <a:rPr lang="en-US" altLang="ja-JP" sz="2800" dirty="0">
                <a:solidFill>
                  <a:srgbClr val="333333"/>
                </a:solidFill>
              </a:rPr>
              <a:t>–large-robust-12-ft-emotion-msp-dim</a:t>
            </a:r>
            <a:r>
              <a:rPr lang="ja-JP" altLang="en-US" sz="2800" dirty="0">
                <a:solidFill>
                  <a:srgbClr val="333333"/>
                </a:solidFill>
              </a:rPr>
              <a:t>（</a:t>
            </a:r>
            <a:r>
              <a:rPr lang="en-US" altLang="ja-JP"/>
              <a:t>Wagner 23</a:t>
            </a:r>
            <a:r>
              <a:rPr lang="ja-JP" altLang="en-US" sz="2800">
                <a:solidFill>
                  <a:srgbClr val="333333"/>
                </a:solidFill>
              </a:rPr>
              <a:t>）</a:t>
            </a:r>
            <a:endParaRPr lang="en-US"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研究室内部資料（田中</a:t>
            </a:r>
            <a:r>
              <a:rPr sz="2800" dirty="0">
                <a:solidFill>
                  <a:srgbClr val="333333"/>
                </a:solidFill>
              </a:rPr>
              <a:t>, 2025）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・2段階評価構造（VA</a:t>
            </a:r>
            <a:r>
              <a:rPr lang="en-US" sz="2800" dirty="0">
                <a:solidFill>
                  <a:srgbClr val="333333"/>
                </a:solidFill>
              </a:rPr>
              <a:t>D</a:t>
            </a:r>
            <a:r>
              <a:rPr sz="2800" dirty="0">
                <a:solidFill>
                  <a:srgbClr val="333333"/>
                </a:solidFill>
              </a:rPr>
              <a:t>回帰＋感情分類）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60772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3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52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852" y="1280160"/>
            <a:ext cx="1124712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【</a:t>
            </a:r>
            <a:r>
              <a:rPr sz="2800" dirty="0" err="1">
                <a:solidFill>
                  <a:srgbClr val="333333"/>
                </a:solidFill>
              </a:rPr>
              <a:t>研究目的</a:t>
            </a:r>
            <a:r>
              <a:rPr sz="2800" dirty="0">
                <a:solidFill>
                  <a:srgbClr val="333333"/>
                </a:solidFill>
              </a:rPr>
              <a:t>】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emotion2vec </a:t>
            </a:r>
            <a:r>
              <a:rPr sz="2800" dirty="0" err="1">
                <a:solidFill>
                  <a:srgbClr val="333333"/>
                </a:solidFill>
              </a:rPr>
              <a:t>を日本語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lang="ja-JP" altLang="en-US" sz="2800" dirty="0">
                <a:solidFill>
                  <a:srgbClr val="333333"/>
                </a:solidFill>
              </a:rPr>
              <a:t>の音声データを用いて</a:t>
            </a:r>
            <a:r>
              <a:rPr sz="2800" dirty="0">
                <a:solidFill>
                  <a:srgbClr val="333333"/>
                </a:solidFill>
              </a:rPr>
              <a:t>fine-tuning </a:t>
            </a:r>
            <a:r>
              <a:rPr sz="2800" dirty="0" err="1">
                <a:solidFill>
                  <a:srgbClr val="333333"/>
                </a:solidFill>
              </a:rPr>
              <a:t>することで日本語</a:t>
            </a:r>
            <a:r>
              <a:rPr lang="ja-JP" altLang="en-US" sz="2800" dirty="0">
                <a:solidFill>
                  <a:srgbClr val="333333"/>
                </a:solidFill>
              </a:rPr>
              <a:t>音声感情認識の</a:t>
            </a:r>
            <a:r>
              <a:rPr sz="2800" dirty="0" err="1">
                <a:solidFill>
                  <a:srgbClr val="333333"/>
                </a:solidFill>
              </a:rPr>
              <a:t>精度</a:t>
            </a:r>
            <a:r>
              <a:rPr lang="ja-JP" altLang="en-US" sz="2800" dirty="0">
                <a:solidFill>
                  <a:srgbClr val="333333"/>
                </a:solidFill>
              </a:rPr>
              <a:t>を向上をさせ，それを評価する．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提案手法の概要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① emotion2vec （</a:t>
            </a:r>
            <a:r>
              <a:rPr sz="2800" dirty="0" err="1">
                <a:solidFill>
                  <a:srgbClr val="333333"/>
                </a:solidFill>
              </a:rPr>
              <a:t>基準点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② emotion2vec ＋ </a:t>
            </a:r>
            <a:r>
              <a:rPr sz="2800" dirty="0" err="1">
                <a:solidFill>
                  <a:srgbClr val="333333"/>
                </a:solidFill>
              </a:rPr>
              <a:t>日本語</a:t>
            </a:r>
            <a:r>
              <a:rPr sz="2800" dirty="0">
                <a:solidFill>
                  <a:srgbClr val="333333"/>
                </a:solidFill>
              </a:rPr>
              <a:t> fine-tuning　← </a:t>
            </a:r>
            <a:r>
              <a:rPr sz="2800" dirty="0" err="1">
                <a:solidFill>
                  <a:srgbClr val="333333"/>
                </a:solidFill>
              </a:rPr>
              <a:t>提案手法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lang="en-US"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ja-JP" altLang="en-US" sz="2800" dirty="0">
                <a:solidFill>
                  <a:srgbClr val="333333"/>
                </a:solidFill>
              </a:rPr>
              <a:t>英語，日本語音声の感情分類精度を比較する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5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データセット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3347"/>
            <a:ext cx="11247120" cy="517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dirty="0">
                <a:solidFill>
                  <a:srgbClr val="333333"/>
                </a:solidFill>
              </a:rPr>
              <a:t>1. </a:t>
            </a:r>
            <a:r>
              <a:rPr sz="2400" dirty="0" err="1">
                <a:solidFill>
                  <a:srgbClr val="333333"/>
                </a:solidFill>
              </a:rPr>
              <a:t>データセット</a:t>
            </a:r>
            <a:endParaRPr lang="en-US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日本語</a:t>
            </a:r>
            <a:endParaRPr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400" dirty="0">
                <a:solidFill>
                  <a:srgbClr val="333333"/>
                </a:solidFill>
              </a:rPr>
              <a:t>   ・</a:t>
            </a:r>
            <a:r>
              <a:rPr sz="2400" dirty="0" err="1">
                <a:solidFill>
                  <a:srgbClr val="333333"/>
                </a:solidFill>
              </a:rPr>
              <a:t>HCUDB（広島市立大学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感情音声コーパス</a:t>
            </a:r>
            <a:r>
              <a:rPr sz="24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400" dirty="0">
                <a:solidFill>
                  <a:srgbClr val="333333"/>
                </a:solidFill>
              </a:rPr>
              <a:t>   </a:t>
            </a:r>
            <a:r>
              <a:rPr lang="en-US" sz="2400" dirty="0">
                <a:solidFill>
                  <a:srgbClr val="333333"/>
                </a:solidFill>
              </a:rPr>
              <a:t>		</a:t>
            </a:r>
            <a:r>
              <a:rPr sz="2400" dirty="0">
                <a:solidFill>
                  <a:srgbClr val="333333"/>
                </a:solidFill>
              </a:rPr>
              <a:t>14話者 × 10セリフ × 11感情 × 3テイク ＝ 4,620発話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    ・感情を込めた発話データセット（日本人のプロの声優や声優科の学生</a:t>
            </a:r>
            <a:r>
              <a:rPr lang="en-US" altLang="ja-JP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男女</a:t>
            </a:r>
            <a:r>
              <a:rPr lang="en-US" altLang="ja-JP" sz="2400" dirty="0">
                <a:solidFill>
                  <a:srgbClr val="333333"/>
                </a:solidFill>
              </a:rPr>
              <a:t>100</a:t>
            </a:r>
            <a:r>
              <a:rPr lang="ja-JP" altLang="en-US" sz="2400" dirty="0">
                <a:solidFill>
                  <a:srgbClr val="333333"/>
                </a:solidFill>
              </a:rPr>
              <a:t>名</a:t>
            </a:r>
            <a:r>
              <a:rPr lang="en-US" altLang="ja-JP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による日本語の発話データセット）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altLang="ja-JP" sz="2400" dirty="0">
                <a:solidFill>
                  <a:srgbClr val="333333"/>
                </a:solidFill>
              </a:rPr>
              <a:t>		8</a:t>
            </a:r>
            <a:r>
              <a:rPr lang="ja-JP" altLang="en-US" sz="2400" dirty="0">
                <a:solidFill>
                  <a:srgbClr val="333333"/>
                </a:solidFill>
              </a:rPr>
              <a:t>感情</a:t>
            </a:r>
            <a:r>
              <a:rPr lang="en-US" altLang="ja-JP" sz="2400" dirty="0">
                <a:solidFill>
                  <a:srgbClr val="333333"/>
                </a:solidFill>
              </a:rPr>
              <a:t>×</a:t>
            </a:r>
            <a:r>
              <a:rPr lang="ja-JP" altLang="en-US" sz="2400" dirty="0">
                <a:solidFill>
                  <a:srgbClr val="333333"/>
                </a:solidFill>
              </a:rPr>
              <a:t>強弱</a:t>
            </a:r>
            <a:r>
              <a:rPr lang="en-US" altLang="ja-JP" sz="2400" dirty="0">
                <a:solidFill>
                  <a:srgbClr val="333333"/>
                </a:solidFill>
              </a:rPr>
              <a:t>×2</a:t>
            </a:r>
            <a:r>
              <a:rPr lang="ja-JP" altLang="en-US" sz="2400" dirty="0">
                <a:solidFill>
                  <a:srgbClr val="333333"/>
                </a:solidFill>
              </a:rPr>
              <a:t>セリフ</a:t>
            </a:r>
            <a:r>
              <a:rPr lang="en-US" altLang="ja-JP" sz="2400" dirty="0">
                <a:solidFill>
                  <a:srgbClr val="333333"/>
                </a:solidFill>
              </a:rPr>
              <a:t>×2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  <a:r>
              <a:rPr lang="en-US" altLang="ja-JP" sz="2400" dirty="0">
                <a:solidFill>
                  <a:srgbClr val="333333"/>
                </a:solidFill>
              </a:rPr>
              <a:t>×100</a:t>
            </a:r>
            <a:r>
              <a:rPr lang="ja-JP" altLang="en-US" sz="2400" dirty="0">
                <a:solidFill>
                  <a:srgbClr val="333333"/>
                </a:solidFill>
              </a:rPr>
              <a:t>モデル ＝ </a:t>
            </a:r>
            <a:r>
              <a:rPr lang="en-US" altLang="ja-JP" sz="2400" dirty="0">
                <a:solidFill>
                  <a:srgbClr val="333333"/>
                </a:solidFill>
              </a:rPr>
              <a:t>6400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lang="en-US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英語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・</a:t>
            </a:r>
            <a:r>
              <a:rPr lang="en-US" altLang="ja-JP" sz="2400" b="1" dirty="0"/>
              <a:t>IEMOCAP</a:t>
            </a:r>
            <a:r>
              <a:rPr lang="ja-JP" altLang="en-US" sz="2400" dirty="0"/>
              <a:t>（</a:t>
            </a:r>
            <a:r>
              <a:rPr lang="en-US" altLang="ja-JP" sz="2400" dirty="0"/>
              <a:t>USC </a:t>
            </a:r>
            <a:r>
              <a:rPr lang="ja-JP" altLang="en-US" sz="2400" dirty="0"/>
              <a:t>対話型感情動作キャプチャ</a:t>
            </a:r>
            <a:r>
              <a:rPr lang="en-US" altLang="ja-JP" sz="2400" dirty="0"/>
              <a:t>DB</a:t>
            </a:r>
            <a:r>
              <a:rPr lang="ja-JP" altLang="en-US" sz="2400" dirty="0"/>
              <a:t>） 　</a:t>
            </a:r>
            <a:endParaRPr lang="en-US" altLang="ja-JP" sz="2400" dirty="0"/>
          </a:p>
          <a:p>
            <a:pPr>
              <a:spcAft>
                <a:spcPts val="200"/>
              </a:spcAft>
            </a:pPr>
            <a:r>
              <a:rPr lang="en-US" altLang="ja-JP" sz="2400" dirty="0"/>
              <a:t>		10</a:t>
            </a:r>
            <a:r>
              <a:rPr lang="ja-JP" altLang="en-US" sz="2400" dirty="0"/>
              <a:t>話者（男</a:t>
            </a:r>
            <a:r>
              <a:rPr lang="en-US" altLang="ja-JP" sz="2400" dirty="0"/>
              <a:t>5</a:t>
            </a:r>
            <a:r>
              <a:rPr lang="ja-JP" altLang="en-US" sz="2400" dirty="0"/>
              <a:t>・女</a:t>
            </a:r>
            <a:r>
              <a:rPr lang="en-US" altLang="ja-JP" sz="2400" dirty="0"/>
              <a:t>5</a:t>
            </a:r>
            <a:r>
              <a:rPr lang="ja-JP" altLang="en-US" sz="2400" dirty="0"/>
              <a:t>）</a:t>
            </a:r>
            <a:r>
              <a:rPr lang="en-US" altLang="ja-JP" sz="2400" dirty="0"/>
              <a:t>× 5</a:t>
            </a:r>
            <a:r>
              <a:rPr lang="ja-JP" altLang="en-US" sz="2400" dirty="0"/>
              <a:t>セッション </a:t>
            </a:r>
            <a:r>
              <a:rPr lang="en-US" altLang="ja-JP" sz="2400" dirty="0"/>
              <a:t>× 9</a:t>
            </a:r>
            <a:r>
              <a:rPr lang="ja-JP" altLang="en-US" sz="2400" dirty="0"/>
              <a:t>感情 ≈ </a:t>
            </a:r>
            <a:r>
              <a:rPr lang="en-US" altLang="ja-JP" sz="2400" dirty="0"/>
              <a:t>10,039</a:t>
            </a:r>
            <a:r>
              <a:rPr lang="ja-JP" altLang="en-US" sz="2400" dirty="0"/>
              <a:t>発話</a:t>
            </a:r>
            <a:r>
              <a:rPr lang="en-US" sz="2400" dirty="0">
                <a:solidFill>
                  <a:srgbClr val="333333"/>
                </a:solidFill>
              </a:rPr>
              <a:t>	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・</a:t>
            </a:r>
            <a:r>
              <a:rPr lang="en-US" altLang="ja-JP" sz="2400" b="1" dirty="0"/>
              <a:t>MSP-Podcast</a:t>
            </a:r>
            <a:r>
              <a:rPr lang="ja-JP" altLang="en-US" sz="2400" dirty="0"/>
              <a:t>（</a:t>
            </a:r>
            <a:r>
              <a:rPr lang="en-US" altLang="ja-JP" sz="2400" dirty="0"/>
              <a:t>UT Dallas </a:t>
            </a:r>
            <a:r>
              <a:rPr lang="ja-JP" altLang="en-US" sz="2400" dirty="0"/>
              <a:t>ポッドキャスト感情コーパス） 　</a:t>
            </a:r>
            <a:endParaRPr lang="en-US" altLang="ja-JP" sz="2400" dirty="0"/>
          </a:p>
          <a:p>
            <a:pPr>
              <a:spcAft>
                <a:spcPts val="200"/>
              </a:spcAft>
            </a:pPr>
            <a:r>
              <a:rPr lang="en-US" altLang="ja-JP" sz="2400" dirty="0"/>
              <a:t>		</a:t>
            </a:r>
            <a:r>
              <a:rPr lang="ja-JP" altLang="en-US" sz="2400" dirty="0"/>
              <a:t>多数話者（自然収集）</a:t>
            </a:r>
            <a:r>
              <a:rPr lang="en-US" altLang="ja-JP" sz="2400" dirty="0"/>
              <a:t>× 8</a:t>
            </a:r>
            <a:r>
              <a:rPr lang="ja-JP" altLang="en-US" sz="2400" dirty="0"/>
              <a:t>感情カテゴリ ＋ </a:t>
            </a:r>
            <a:r>
              <a:rPr lang="en-US" altLang="ja-JP" sz="2400" dirty="0"/>
              <a:t>VAD</a:t>
            </a:r>
            <a:r>
              <a:rPr lang="ja-JP" altLang="en-US" sz="2400" dirty="0"/>
              <a:t>次元ラベル ≈ </a:t>
            </a:r>
            <a:r>
              <a:rPr lang="en-US" altLang="ja-JP" sz="2400" dirty="0"/>
              <a:t>90,000+</a:t>
            </a:r>
            <a:r>
              <a:rPr lang="ja-JP" altLang="en-US" sz="2400" dirty="0"/>
              <a:t>発話</a:t>
            </a:r>
            <a:endParaRPr lang="en-US" sz="24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6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実験設定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1. Fine-tuning </a:t>
            </a:r>
            <a:r>
              <a:rPr sz="2800" dirty="0" err="1">
                <a:solidFill>
                  <a:srgbClr val="333333"/>
                </a:solidFill>
              </a:rPr>
              <a:t>設定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・実験1（VAD回帰）：</a:t>
            </a:r>
            <a:r>
              <a:rPr sz="2800" dirty="0" err="1">
                <a:solidFill>
                  <a:srgbClr val="333333"/>
                </a:solidFill>
              </a:rPr>
              <a:t>線形回帰ヘッド（Valence</a:t>
            </a:r>
            <a:r>
              <a:rPr sz="2800" dirty="0">
                <a:solidFill>
                  <a:srgbClr val="333333"/>
                </a:solidFill>
              </a:rPr>
              <a:t> / Arousal / Dominance 3次元連続値出力）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・実験2（感情分類）：線形分類ヘッド（</a:t>
            </a:r>
            <a:r>
              <a:rPr lang="en-US" altLang="ja-JP" sz="2800" dirty="0">
                <a:solidFill>
                  <a:srgbClr val="333333"/>
                </a:solidFill>
              </a:rPr>
              <a:t>4</a:t>
            </a:r>
            <a:r>
              <a:rPr sz="2800" dirty="0">
                <a:solidFill>
                  <a:srgbClr val="333333"/>
                </a:solidFill>
              </a:rPr>
              <a:t>クラス出力</a:t>
            </a:r>
            <a:r>
              <a:rPr lang="ja-JP" altLang="en-US" sz="2800" dirty="0">
                <a:solidFill>
                  <a:srgbClr val="333333"/>
                </a:solidFill>
              </a:rPr>
              <a:t> </a:t>
            </a:r>
            <a:r>
              <a:rPr lang="en-US" altLang="ja-JP" sz="2800" dirty="0">
                <a:solidFill>
                  <a:srgbClr val="333333"/>
                </a:solidFill>
              </a:rPr>
              <a:t>/hap/sad/ang/</a:t>
            </a:r>
            <a:r>
              <a:rPr lang="ja-JP" altLang="en-US" sz="2800" dirty="0">
                <a:solidFill>
                  <a:srgbClr val="333333"/>
                </a:solidFill>
              </a:rPr>
              <a:t>嫌悪</a:t>
            </a:r>
            <a:r>
              <a:rPr sz="2800">
                <a:solidFill>
                  <a:srgbClr val="333333"/>
                </a:solidFill>
              </a:rPr>
              <a:t>）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2. </a:t>
            </a:r>
            <a:r>
              <a:rPr sz="2800" dirty="0" err="1">
                <a:solidFill>
                  <a:srgbClr val="333333"/>
                </a:solidFill>
              </a:rPr>
              <a:t>評価方法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話者独立型交差検証（LOSO：Leave-One-Speaker-Out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評価指標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・実験1：Valence / Arousal </a:t>
            </a:r>
            <a:r>
              <a:rPr sz="2800" dirty="0" err="1">
                <a:solidFill>
                  <a:srgbClr val="333333"/>
                </a:solidFill>
              </a:rPr>
              <a:t>の相関係数</a:t>
            </a:r>
            <a:r>
              <a:rPr sz="2800" dirty="0">
                <a:solidFill>
                  <a:srgbClr val="333333"/>
                </a:solidFill>
              </a:rPr>
              <a:t>, </a:t>
            </a:r>
            <a:r>
              <a:rPr sz="2800" dirty="0" err="1">
                <a:solidFill>
                  <a:srgbClr val="333333"/>
                </a:solidFill>
              </a:rPr>
              <a:t>Dominanceは検討中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・実験2：WA（加重精度）/ Macro-F1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8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研究スケジュール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 5月　</a:t>
            </a:r>
            <a:r>
              <a:rPr sz="2800" dirty="0" err="1">
                <a:solidFill>
                  <a:srgbClr val="333333"/>
                </a:solidFill>
              </a:rPr>
              <a:t>データ前処理・実験環境構築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 6月　emotion2vec fine-tuning </a:t>
            </a:r>
            <a:r>
              <a:rPr sz="2800" dirty="0" err="1">
                <a:solidFill>
                  <a:srgbClr val="333333"/>
                </a:solidFill>
              </a:rPr>
              <a:t>実装・初期テスト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 7月　実験実施（</a:t>
            </a:r>
            <a:r>
              <a:rPr lang="en-US" altLang="ja-JP" sz="2800" dirty="0">
                <a:solidFill>
                  <a:srgbClr val="333333"/>
                </a:solidFill>
              </a:rPr>
              <a:t>3</a:t>
            </a:r>
            <a:r>
              <a:rPr sz="2800" dirty="0">
                <a:solidFill>
                  <a:srgbClr val="333333"/>
                </a:solidFill>
              </a:rPr>
              <a:t>モデル比較）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 8月　LOSO </a:t>
            </a:r>
            <a:r>
              <a:rPr sz="2800" dirty="0" err="1">
                <a:solidFill>
                  <a:srgbClr val="333333"/>
                </a:solidFill>
              </a:rPr>
              <a:t>評価・結果整理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 9月　</a:t>
            </a:r>
            <a:r>
              <a:rPr sz="2800" dirty="0" err="1">
                <a:solidFill>
                  <a:srgbClr val="333333"/>
                </a:solidFill>
              </a:rPr>
              <a:t>結果分析・考察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2026年10月　</a:t>
            </a:r>
            <a:r>
              <a:rPr sz="2800" dirty="0" err="1">
                <a:solidFill>
                  <a:srgbClr val="333333"/>
                </a:solidFill>
              </a:rPr>
              <a:t>論文執筆（序論・関連研究・手法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2026年11月　</a:t>
            </a:r>
            <a:r>
              <a:rPr sz="2800" dirty="0" err="1">
                <a:solidFill>
                  <a:srgbClr val="333333"/>
                </a:solidFill>
              </a:rPr>
              <a:t>論文執筆（実験・考察・結論</a:t>
            </a:r>
            <a:r>
              <a:rPr sz="2800" dirty="0">
                <a:solidFill>
                  <a:srgbClr val="333333"/>
                </a:solidFill>
              </a:rPr>
              <a:t>）、</a:t>
            </a:r>
            <a:r>
              <a:rPr sz="2800" dirty="0" err="1">
                <a:solidFill>
                  <a:srgbClr val="333333"/>
                </a:solidFill>
              </a:rPr>
              <a:t>指導教員フィードバック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2026年12月　</a:t>
            </a:r>
            <a:r>
              <a:rPr sz="2800" dirty="0" err="1">
                <a:solidFill>
                  <a:srgbClr val="333333"/>
                </a:solidFill>
              </a:rPr>
              <a:t>修正・推敲・仕上げ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2027年 1月　</a:t>
            </a:r>
            <a:r>
              <a:rPr sz="2800" dirty="0" err="1">
                <a:solidFill>
                  <a:srgbClr val="333333"/>
                </a:solidFill>
              </a:rPr>
              <a:t>最終提出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9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 err="1">
                <a:solidFill>
                  <a:srgbClr val="333333"/>
                </a:solidFill>
              </a:rPr>
              <a:t>本研究の要点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・emotion2vec </a:t>
            </a:r>
            <a:r>
              <a:rPr sz="2800" dirty="0" err="1">
                <a:solidFill>
                  <a:srgbClr val="333333"/>
                </a:solidFill>
              </a:rPr>
              <a:t>を日本語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lang="ja-JP" altLang="en-US" sz="2800" dirty="0">
                <a:solidFill>
                  <a:srgbClr val="333333"/>
                </a:solidFill>
              </a:rPr>
              <a:t>音声データで</a:t>
            </a:r>
            <a:r>
              <a:rPr sz="2800" dirty="0">
                <a:solidFill>
                  <a:srgbClr val="333333"/>
                </a:solidFill>
              </a:rPr>
              <a:t>fine-tuning </a:t>
            </a:r>
            <a:r>
              <a:rPr sz="2800" dirty="0" err="1">
                <a:solidFill>
                  <a:srgbClr val="333333"/>
                </a:solidFill>
              </a:rPr>
              <a:t>し、日本語</a:t>
            </a:r>
            <a:r>
              <a:rPr sz="2800" dirty="0">
                <a:solidFill>
                  <a:srgbClr val="333333"/>
                </a:solidFill>
              </a:rPr>
              <a:t> SER </a:t>
            </a:r>
            <a:r>
              <a:rPr sz="2800" dirty="0" err="1">
                <a:solidFill>
                  <a:srgbClr val="333333"/>
                </a:solidFill>
              </a:rPr>
              <a:t>の精度を検証する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・研究室既存モデルとの比較により、音声感情表現のための自己教師あり事前学習 の貢献を定量的に示す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・データ：HCUDB（1,680発話）、</a:t>
            </a:r>
            <a:r>
              <a:rPr sz="2800" dirty="0" err="1">
                <a:solidFill>
                  <a:srgbClr val="333333"/>
                </a:solidFill>
              </a:rPr>
              <a:t>評価：LOSO、指標：WA</a:t>
            </a:r>
            <a:r>
              <a:rPr sz="2800" dirty="0">
                <a:solidFill>
                  <a:srgbClr val="333333"/>
                </a:solidFill>
              </a:rPr>
              <a:t> / Macro-F1</a:t>
            </a: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527</Words>
  <Application>Microsoft Office PowerPoint</Application>
  <PresentationFormat>ユーザー設定</PresentationFormat>
  <Paragraphs>75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AKIYAMA KANATA</cp:lastModifiedBy>
  <cp:revision>23</cp:revision>
  <dcterms:created xsi:type="dcterms:W3CDTF">2013-01-27T09:14:16Z</dcterms:created>
  <dcterms:modified xsi:type="dcterms:W3CDTF">2026-05-27T02:12:25Z</dcterms:modified>
  <cp:category/>
</cp:coreProperties>
</file>