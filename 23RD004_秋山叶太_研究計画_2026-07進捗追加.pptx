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9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7D3A3-B88D-43F0-B509-E1843FB558A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BCBD5-EF72-4363-9F79-5B7339B8EC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12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VAD</a:t>
            </a:r>
            <a:r>
              <a:rPr kumimoji="1" lang="ja-JP" altLang="en-US"/>
              <a:t>媒介型分類は最終性能の報告ではなく、今後の比較評価で使う経路であると説明する。
分類器の入力は</a:t>
            </a:r>
            <a:r>
              <a:rPr kumimoji="1" lang="en-US" altLang="ja-JP"/>
              <a:t>emotion2vec</a:t>
            </a:r>
            <a:r>
              <a:rPr kumimoji="1" lang="ja-JP" altLang="en-US"/>
              <a:t>特徴そのものではなく、予測された</a:t>
            </a:r>
            <a:r>
              <a:rPr kumimoji="1" lang="en-US" altLang="ja-JP"/>
              <a:t>VAD</a:t>
            </a:r>
            <a:r>
              <a:rPr kumimoji="1" lang="ja-JP" altLang="en-US"/>
              <a:t>値に制限する。これにより、</a:t>
            </a:r>
            <a:r>
              <a:rPr kumimoji="1" lang="en-US" altLang="ja-JP"/>
              <a:t>emotion logit</a:t>
            </a:r>
            <a:r>
              <a:rPr kumimoji="1" lang="ja-JP" altLang="en-US"/>
              <a:t>に対する</a:t>
            </a:r>
            <a:r>
              <a:rPr kumimoji="1" lang="en-US" altLang="ja-JP"/>
              <a:t>Valence/Arousal/Dominance</a:t>
            </a:r>
            <a:r>
              <a:rPr kumimoji="1" lang="ja-JP" altLang="en-US"/>
              <a:t>各次元の寄与を確認できる。
</a:t>
            </a:r>
            <a:r>
              <a:rPr kumimoji="1" lang="en-US" altLang="ja-JP"/>
              <a:t>caveat: </a:t>
            </a:r>
            <a:r>
              <a:rPr kumimoji="1" lang="ja-JP" altLang="en-US"/>
              <a:t>性能改善は未測定。直接分類より優れるとは主張しない。</a:t>
            </a:r>
            <a:r>
              <a:rPr kumimoji="1" lang="en-US" altLang="ja-JP"/>
              <a:t>fine-tuning</a:t>
            </a:r>
            <a:r>
              <a:rPr kumimoji="1" lang="ja-JP" altLang="en-US"/>
              <a:t>結果ではなく、分類根拠を確認するための実装基盤として扱う。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BCBD5-EF72-4363-9F79-5B7339B8ECC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06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次の段階では実データ評価に移り、日本語</a:t>
            </a:r>
            <a:r>
              <a:rPr kumimoji="1" lang="en-US" altLang="ja-JP"/>
              <a:t>SER</a:t>
            </a:r>
            <a:r>
              <a:rPr kumimoji="1" lang="ja-JP" altLang="en-US"/>
              <a:t>改善と英語</a:t>
            </a:r>
            <a:r>
              <a:rPr kumimoji="1" lang="en-US" altLang="ja-JP"/>
              <a:t>SER</a:t>
            </a:r>
            <a:r>
              <a:rPr kumimoji="1" lang="ja-JP" altLang="en-US"/>
              <a:t>維持を数値化する。
</a:t>
            </a:r>
            <a:r>
              <a:rPr kumimoji="1" lang="en-US" altLang="ja-JP"/>
              <a:t>dis </a:t>
            </a:r>
            <a:r>
              <a:rPr kumimoji="1" lang="ja-JP" altLang="en-US"/>
              <a:t>の</a:t>
            </a:r>
            <a:r>
              <a:rPr kumimoji="1" lang="en-US" altLang="ja-JP"/>
              <a:t>fold</a:t>
            </a:r>
            <a:r>
              <a:rPr kumimoji="1" lang="ja-JP" altLang="en-US"/>
              <a:t>内分布確認を先に行い、クラス偏りや</a:t>
            </a:r>
            <a:r>
              <a:rPr kumimoji="1" lang="en-US" altLang="ja-JP"/>
              <a:t>fold</a:t>
            </a:r>
            <a:r>
              <a:rPr kumimoji="1" lang="ja-JP" altLang="en-US"/>
              <a:t>偏りによって評価値の解釈を誤らないようにする。
ロードマップ</a:t>
            </a:r>
            <a:r>
              <a:rPr kumimoji="1" lang="en-US" altLang="ja-JP"/>
              <a:t>:
1. </a:t>
            </a:r>
            <a:r>
              <a:rPr kumimoji="1" lang="ja-JP" altLang="en-US"/>
              <a:t>依存入り環境でテスト完走
</a:t>
            </a:r>
            <a:r>
              <a:rPr kumimoji="1" lang="en-US" altLang="ja-JP"/>
              <a:t>2. hap/sad/ang/dis</a:t>
            </a:r>
            <a:r>
              <a:rPr kumimoji="1" lang="ja-JP" altLang="en-US"/>
              <a:t>分布確認
</a:t>
            </a:r>
            <a:r>
              <a:rPr kumimoji="1" lang="en-US" altLang="ja-JP"/>
              <a:t>3. VAD</a:t>
            </a:r>
            <a:r>
              <a:rPr kumimoji="1" lang="ja-JP" altLang="en-US"/>
              <a:t>媒介型分類を実データ評価
</a:t>
            </a:r>
            <a:r>
              <a:rPr kumimoji="1" lang="en-US" altLang="ja-JP"/>
              <a:t>4. fine-tuning</a:t>
            </a:r>
            <a:r>
              <a:rPr kumimoji="1" lang="ja-JP" altLang="en-US"/>
              <a:t>前後で日英</a:t>
            </a:r>
            <a:r>
              <a:rPr kumimoji="1" lang="en-US" altLang="ja-JP"/>
              <a:t>SER</a:t>
            </a:r>
            <a:r>
              <a:rPr kumimoji="1" lang="ja-JP" altLang="en-US"/>
              <a:t>比較
</a:t>
            </a:r>
            <a:r>
              <a:rPr kumimoji="1" lang="en-US" altLang="ja-JP"/>
              <a:t>caveat: </a:t>
            </a:r>
            <a:r>
              <a:rPr kumimoji="1" lang="ja-JP" altLang="en-US"/>
              <a:t>英語性能維持と日本語性能改善は今後の比較実験で確認する。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BCBD5-EF72-4363-9F79-5B7339B8ECC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686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dirty="0"/>
              <a:t>音声感情認識モデルの </a:t>
            </a:r>
            <a:r>
              <a:rPr lang="en-US" altLang="ja-JP" sz="2800" dirty="0"/>
              <a:t>fine-tuning</a:t>
            </a:r>
            <a:r>
              <a:rPr lang="ja-JP" altLang="en-US" sz="2800" dirty="0"/>
              <a:t> による</a:t>
            </a:r>
            <a:r>
              <a:rPr sz="2800" dirty="0" err="1"/>
              <a:t>日本語適用と精度評価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333333"/>
                </a:solidFill>
              </a:rPr>
              <a:t>23RD004 秋山 叶太</a:t>
            </a:r>
          </a:p>
          <a:p>
            <a:pPr algn="ctr"/>
            <a:r>
              <a:rPr sz="1800">
                <a:solidFill>
                  <a:srgbClr val="333333"/>
                </a:solidFill>
              </a:rPr>
              <a:t>日付：2026年 4月30日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ja-JP" sz="900">
                <a:solidFill>
                  <a:srgbClr val="999999"/>
                </a:solidFill>
              </a:rPr>
              <a:t>1 / 12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背景・動機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1. </a:t>
            </a:r>
            <a:r>
              <a:rPr sz="2800" dirty="0" err="1">
                <a:solidFill>
                  <a:srgbClr val="333333"/>
                </a:solidFill>
              </a:rPr>
              <a:t>音声感情認識（SER）の社会的応用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メンタルヘルス支援</a:t>
            </a:r>
            <a:r>
              <a:rPr sz="2800" dirty="0">
                <a:solidFill>
                  <a:srgbClr val="333333"/>
                </a:solidFill>
              </a:rPr>
              <a:t> / </a:t>
            </a:r>
            <a:r>
              <a:rPr sz="2800" dirty="0" err="1">
                <a:solidFill>
                  <a:srgbClr val="333333"/>
                </a:solidFill>
              </a:rPr>
              <a:t>対話システム</a:t>
            </a:r>
            <a:r>
              <a:rPr sz="2800" dirty="0">
                <a:solidFill>
                  <a:srgbClr val="333333"/>
                </a:solidFill>
              </a:rPr>
              <a:t> / </a:t>
            </a:r>
            <a:r>
              <a:rPr sz="2800" dirty="0" err="1">
                <a:solidFill>
                  <a:srgbClr val="333333"/>
                </a:solidFill>
              </a:rPr>
              <a:t>音声インタフェース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2. emotion2vec </a:t>
            </a:r>
            <a:r>
              <a:rPr sz="2800" dirty="0" err="1">
                <a:solidFill>
                  <a:srgbClr val="333333"/>
                </a:solidFill>
              </a:rPr>
              <a:t>の登場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音声感情</a:t>
            </a:r>
            <a:r>
              <a:rPr lang="ja-JP" altLang="en-US" sz="2800" dirty="0">
                <a:solidFill>
                  <a:srgbClr val="333333"/>
                </a:solidFill>
              </a:rPr>
              <a:t>認識</a:t>
            </a:r>
            <a:r>
              <a:rPr sz="2800" dirty="0" err="1">
                <a:solidFill>
                  <a:srgbClr val="333333"/>
                </a:solidFill>
              </a:rPr>
              <a:t>のための自己教師あり事前学習モデル（英語・中国語等で有効性実証済み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3. </a:t>
            </a:r>
            <a:r>
              <a:rPr sz="2800" dirty="0" err="1">
                <a:solidFill>
                  <a:srgbClr val="333333"/>
                </a:solidFill>
              </a:rPr>
              <a:t>日本語への適用は未検証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日本語</a:t>
            </a:r>
            <a:r>
              <a:rPr sz="2800" dirty="0">
                <a:solidFill>
                  <a:srgbClr val="333333"/>
                </a:solidFill>
              </a:rPr>
              <a:t> fine-tuning </a:t>
            </a:r>
            <a:r>
              <a:rPr sz="2800" dirty="0" err="1">
                <a:solidFill>
                  <a:srgbClr val="333333"/>
                </a:solidFill>
              </a:rPr>
              <a:t>の報告なし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4. </a:t>
            </a:r>
            <a:r>
              <a:rPr sz="2800" dirty="0" err="1">
                <a:solidFill>
                  <a:srgbClr val="333333"/>
                </a:solidFill>
              </a:rPr>
              <a:t>本研究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日本語</a:t>
            </a:r>
            <a:r>
              <a:rPr sz="2800" dirty="0">
                <a:solidFill>
                  <a:srgbClr val="333333"/>
                </a:solidFill>
              </a:rPr>
              <a:t> fine-tuning </a:t>
            </a:r>
            <a:r>
              <a:rPr sz="2800" dirty="0" err="1">
                <a:solidFill>
                  <a:srgbClr val="333333"/>
                </a:solidFill>
              </a:rPr>
              <a:t>による</a:t>
            </a:r>
            <a:r>
              <a:rPr lang="ja-JP" altLang="en-US" sz="2800" dirty="0">
                <a:solidFill>
                  <a:srgbClr val="333333"/>
                </a:solidFill>
              </a:rPr>
              <a:t>日本語音声感情認識</a:t>
            </a:r>
            <a:r>
              <a:rPr sz="2800" dirty="0" err="1">
                <a:solidFill>
                  <a:srgbClr val="333333"/>
                </a:solidFill>
              </a:rPr>
              <a:t>精度向上</a:t>
            </a:r>
            <a:r>
              <a:rPr lang="ja-JP" altLang="en-US" sz="2800" dirty="0">
                <a:solidFill>
                  <a:srgbClr val="333333"/>
                </a:solidFill>
              </a:rPr>
              <a:t>，英語音声感情認識精度の維持</a:t>
            </a:r>
            <a:r>
              <a:rPr sz="2800" dirty="0" err="1">
                <a:solidFill>
                  <a:srgbClr val="333333"/>
                </a:solidFill>
              </a:rPr>
              <a:t>の検証</a:t>
            </a: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ja-JP" sz="900">
                <a:solidFill>
                  <a:srgbClr val="999999"/>
                </a:solidFill>
              </a:rPr>
              <a:t>2 / 12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先行研究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1. emotion2vec（Ma et al., 2024）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音声感情</a:t>
            </a:r>
            <a:r>
              <a:rPr lang="ja-JP" altLang="en-US" sz="2800" dirty="0">
                <a:solidFill>
                  <a:srgbClr val="333333"/>
                </a:solidFill>
              </a:rPr>
              <a:t>認識</a:t>
            </a:r>
            <a:r>
              <a:rPr sz="2800" dirty="0" err="1">
                <a:solidFill>
                  <a:srgbClr val="333333"/>
                </a:solidFill>
              </a:rPr>
              <a:t>のための自己教師あり事前学習の汎用モデル／本研究のベースモデル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2. wav2vec 2.0</a:t>
            </a:r>
            <a:r>
              <a:rPr lang="ja-JP" altLang="en-US" sz="2800" dirty="0">
                <a:solidFill>
                  <a:srgbClr val="333333"/>
                </a:solidFill>
              </a:rPr>
              <a:t> </a:t>
            </a:r>
            <a:r>
              <a:rPr lang="en-US" altLang="ja-JP" sz="2800" dirty="0">
                <a:solidFill>
                  <a:srgbClr val="333333"/>
                </a:solidFill>
              </a:rPr>
              <a:t>–large-robust-12-ft-emotion-msp-dim</a:t>
            </a:r>
            <a:r>
              <a:rPr lang="ja-JP" altLang="en-US" sz="2800" dirty="0">
                <a:solidFill>
                  <a:srgbClr val="333333"/>
                </a:solidFill>
              </a:rPr>
              <a:t>（</a:t>
            </a:r>
            <a:r>
              <a:rPr lang="en-US" altLang="ja-JP" dirty="0"/>
              <a:t>Wagner 23</a:t>
            </a:r>
            <a:r>
              <a:rPr lang="ja-JP" altLang="en-US" sz="2800" dirty="0">
                <a:solidFill>
                  <a:srgbClr val="333333"/>
                </a:solidFill>
              </a:rPr>
              <a:t>）</a:t>
            </a:r>
            <a:endParaRPr lang="en-US"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3. </a:t>
            </a:r>
            <a:r>
              <a:rPr sz="2800" dirty="0" err="1">
                <a:solidFill>
                  <a:srgbClr val="333333"/>
                </a:solidFill>
              </a:rPr>
              <a:t>研究室内部資料（田中</a:t>
            </a:r>
            <a:r>
              <a:rPr sz="2800" dirty="0">
                <a:solidFill>
                  <a:srgbClr val="333333"/>
                </a:solidFill>
              </a:rPr>
              <a:t>, 2025）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・2段階構造（VA</a:t>
            </a:r>
            <a:r>
              <a:rPr lang="en-US" sz="2800" dirty="0">
                <a:solidFill>
                  <a:srgbClr val="333333"/>
                </a:solidFill>
              </a:rPr>
              <a:t>D</a:t>
            </a:r>
            <a:r>
              <a:rPr sz="2800" dirty="0">
                <a:solidFill>
                  <a:srgbClr val="333333"/>
                </a:solidFill>
              </a:rPr>
              <a:t>回帰＋感情分類）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38322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ja-JP" sz="900">
                <a:solidFill>
                  <a:srgbClr val="999999"/>
                </a:solidFill>
              </a:rPr>
              <a:t>3 / 12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652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852" y="1280160"/>
            <a:ext cx="1124712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【</a:t>
            </a:r>
            <a:r>
              <a:rPr sz="2800" dirty="0" err="1">
                <a:solidFill>
                  <a:srgbClr val="333333"/>
                </a:solidFill>
              </a:rPr>
              <a:t>研究目的</a:t>
            </a:r>
            <a:r>
              <a:rPr sz="2800" dirty="0">
                <a:solidFill>
                  <a:srgbClr val="333333"/>
                </a:solidFill>
              </a:rPr>
              <a:t>】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emotion2vec </a:t>
            </a:r>
            <a:r>
              <a:rPr sz="2800" dirty="0" err="1">
                <a:solidFill>
                  <a:srgbClr val="333333"/>
                </a:solidFill>
              </a:rPr>
              <a:t>を日本語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lang="ja-JP" altLang="en-US" sz="2800" dirty="0">
                <a:solidFill>
                  <a:srgbClr val="333333"/>
                </a:solidFill>
              </a:rPr>
              <a:t>の音声データを用いて</a:t>
            </a:r>
            <a:r>
              <a:rPr sz="2800" dirty="0">
                <a:solidFill>
                  <a:srgbClr val="333333"/>
                </a:solidFill>
              </a:rPr>
              <a:t>fine-tuning </a:t>
            </a:r>
            <a:r>
              <a:rPr sz="2800" dirty="0" err="1">
                <a:solidFill>
                  <a:srgbClr val="333333"/>
                </a:solidFill>
              </a:rPr>
              <a:t>することで日本語</a:t>
            </a:r>
            <a:r>
              <a:rPr lang="ja-JP" altLang="en-US" sz="2800" dirty="0">
                <a:solidFill>
                  <a:srgbClr val="333333"/>
                </a:solidFill>
              </a:rPr>
              <a:t>音声感情認識の</a:t>
            </a:r>
            <a:r>
              <a:rPr sz="2800" dirty="0" err="1">
                <a:solidFill>
                  <a:srgbClr val="333333"/>
                </a:solidFill>
              </a:rPr>
              <a:t>精度</a:t>
            </a:r>
            <a:r>
              <a:rPr lang="ja-JP" altLang="en-US" sz="2800" dirty="0">
                <a:solidFill>
                  <a:srgbClr val="333333"/>
                </a:solidFill>
              </a:rPr>
              <a:t>を向上をさせる．</a:t>
            </a: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ja-JP" sz="900">
                <a:solidFill>
                  <a:srgbClr val="999999"/>
                </a:solidFill>
              </a:rPr>
              <a:t>4 / 12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提案手法の概要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① emotion2vec （</a:t>
            </a:r>
            <a:r>
              <a:rPr sz="2800" dirty="0" err="1">
                <a:solidFill>
                  <a:srgbClr val="333333"/>
                </a:solidFill>
              </a:rPr>
              <a:t>基準点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② emotion2vec ＋ </a:t>
            </a:r>
            <a:r>
              <a:rPr sz="2800" dirty="0" err="1">
                <a:solidFill>
                  <a:srgbClr val="333333"/>
                </a:solidFill>
              </a:rPr>
              <a:t>日本語</a:t>
            </a:r>
            <a:r>
              <a:rPr sz="2800" dirty="0">
                <a:solidFill>
                  <a:srgbClr val="333333"/>
                </a:solidFill>
              </a:rPr>
              <a:t> fine-tuning　← </a:t>
            </a:r>
            <a:r>
              <a:rPr sz="2800" dirty="0" err="1">
                <a:solidFill>
                  <a:srgbClr val="333333"/>
                </a:solidFill>
              </a:rPr>
              <a:t>提案手法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lang="en-US"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ja-JP" altLang="en-US" sz="2800" dirty="0">
                <a:solidFill>
                  <a:srgbClr val="333333"/>
                </a:solidFill>
              </a:rPr>
              <a:t>英語，日本語音声の感情分類精度を比較する</a:t>
            </a: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ja-JP" sz="900">
                <a:solidFill>
                  <a:srgbClr val="999999"/>
                </a:solidFill>
              </a:rPr>
              <a:t>5 / 12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データセット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3347"/>
            <a:ext cx="11247120" cy="517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dirty="0">
                <a:solidFill>
                  <a:srgbClr val="333333"/>
                </a:solidFill>
              </a:rPr>
              <a:t>1. </a:t>
            </a:r>
            <a:r>
              <a:rPr sz="2400" dirty="0" err="1">
                <a:solidFill>
                  <a:srgbClr val="333333"/>
                </a:solidFill>
              </a:rPr>
              <a:t>データセット</a:t>
            </a:r>
            <a:endParaRPr lang="en-US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日本語</a:t>
            </a:r>
            <a:endParaRPr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400" dirty="0">
                <a:solidFill>
                  <a:srgbClr val="333333"/>
                </a:solidFill>
              </a:rPr>
              <a:t>   ・</a:t>
            </a:r>
            <a:r>
              <a:rPr sz="2400" dirty="0" err="1">
                <a:solidFill>
                  <a:srgbClr val="333333"/>
                </a:solidFill>
              </a:rPr>
              <a:t>HCUDB（広島市立大学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感情音声コーパス</a:t>
            </a:r>
            <a:r>
              <a:rPr sz="24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r>
              <a:rPr sz="2400" dirty="0">
                <a:solidFill>
                  <a:srgbClr val="333333"/>
                </a:solidFill>
              </a:rPr>
              <a:t>   </a:t>
            </a:r>
            <a:r>
              <a:rPr lang="en-US" sz="2400" dirty="0">
                <a:solidFill>
                  <a:srgbClr val="333333"/>
                </a:solidFill>
              </a:rPr>
              <a:t>		</a:t>
            </a:r>
            <a:r>
              <a:rPr sz="2400" dirty="0">
                <a:solidFill>
                  <a:srgbClr val="333333"/>
                </a:solidFill>
              </a:rPr>
              <a:t>14話者 × 10セリフ × 11感情 × 3テイク ＝ 4,620発話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    ・感情を込めた発話データセット（日本人のプロの声優や声優科の学生</a:t>
            </a:r>
            <a:r>
              <a:rPr lang="en-US" altLang="ja-JP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男女</a:t>
            </a:r>
            <a:r>
              <a:rPr lang="en-US" altLang="ja-JP" sz="2400" dirty="0">
                <a:solidFill>
                  <a:srgbClr val="333333"/>
                </a:solidFill>
              </a:rPr>
              <a:t>100</a:t>
            </a:r>
            <a:r>
              <a:rPr lang="ja-JP" altLang="en-US" sz="2400" dirty="0">
                <a:solidFill>
                  <a:srgbClr val="333333"/>
                </a:solidFill>
              </a:rPr>
              <a:t>名</a:t>
            </a:r>
            <a:r>
              <a:rPr lang="en-US" altLang="ja-JP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による日本語の発話データセット）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altLang="ja-JP" sz="2400" dirty="0">
                <a:solidFill>
                  <a:srgbClr val="333333"/>
                </a:solidFill>
              </a:rPr>
              <a:t>		8</a:t>
            </a:r>
            <a:r>
              <a:rPr lang="ja-JP" altLang="en-US" sz="2400" dirty="0">
                <a:solidFill>
                  <a:srgbClr val="333333"/>
                </a:solidFill>
              </a:rPr>
              <a:t>感情</a:t>
            </a:r>
            <a:r>
              <a:rPr lang="en-US" altLang="ja-JP" sz="2400" dirty="0">
                <a:solidFill>
                  <a:srgbClr val="333333"/>
                </a:solidFill>
              </a:rPr>
              <a:t>×</a:t>
            </a:r>
            <a:r>
              <a:rPr lang="ja-JP" altLang="en-US" sz="2400" dirty="0">
                <a:solidFill>
                  <a:srgbClr val="333333"/>
                </a:solidFill>
              </a:rPr>
              <a:t>強弱</a:t>
            </a:r>
            <a:r>
              <a:rPr lang="en-US" altLang="ja-JP" sz="2400" dirty="0">
                <a:solidFill>
                  <a:srgbClr val="333333"/>
                </a:solidFill>
              </a:rPr>
              <a:t>×2</a:t>
            </a:r>
            <a:r>
              <a:rPr lang="ja-JP" altLang="en-US" sz="2400" dirty="0">
                <a:solidFill>
                  <a:srgbClr val="333333"/>
                </a:solidFill>
              </a:rPr>
              <a:t>セリフ</a:t>
            </a:r>
            <a:r>
              <a:rPr lang="en-US" altLang="ja-JP" sz="2400" dirty="0">
                <a:solidFill>
                  <a:srgbClr val="333333"/>
                </a:solidFill>
              </a:rPr>
              <a:t>×2</a:t>
            </a:r>
            <a:r>
              <a:rPr lang="ja-JP" altLang="en-US" sz="2400" dirty="0">
                <a:solidFill>
                  <a:srgbClr val="333333"/>
                </a:solidFill>
              </a:rPr>
              <a:t>発話</a:t>
            </a:r>
            <a:r>
              <a:rPr lang="en-US" altLang="ja-JP" sz="2400" dirty="0">
                <a:solidFill>
                  <a:srgbClr val="333333"/>
                </a:solidFill>
              </a:rPr>
              <a:t>×100</a:t>
            </a:r>
            <a:r>
              <a:rPr lang="ja-JP" altLang="en-US" sz="2400" dirty="0">
                <a:solidFill>
                  <a:srgbClr val="333333"/>
                </a:solidFill>
              </a:rPr>
              <a:t>モデル ＝ </a:t>
            </a:r>
            <a:r>
              <a:rPr lang="en-US" altLang="ja-JP" sz="2400" dirty="0">
                <a:solidFill>
                  <a:srgbClr val="333333"/>
                </a:solidFill>
              </a:rPr>
              <a:t>6400</a:t>
            </a:r>
            <a:r>
              <a:rPr lang="ja-JP" altLang="en-US" sz="2400" dirty="0">
                <a:solidFill>
                  <a:srgbClr val="333333"/>
                </a:solidFill>
              </a:rPr>
              <a:t>発話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lang="en-US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英語</a:t>
            </a:r>
            <a:endParaRPr lang="en-US" altLang="ja-JP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2400" dirty="0">
                <a:solidFill>
                  <a:srgbClr val="333333"/>
                </a:solidFill>
              </a:rPr>
              <a:t>	</a:t>
            </a:r>
            <a:r>
              <a:rPr lang="ja-JP" altLang="en-US" sz="2400" dirty="0">
                <a:solidFill>
                  <a:srgbClr val="333333"/>
                </a:solidFill>
              </a:rPr>
              <a:t>・</a:t>
            </a:r>
            <a:r>
              <a:rPr lang="en-US" altLang="ja-JP" sz="2400" b="1" dirty="0"/>
              <a:t>IEMOCAP</a:t>
            </a:r>
            <a:r>
              <a:rPr lang="ja-JP" altLang="en-US" sz="2400" dirty="0"/>
              <a:t>（</a:t>
            </a:r>
            <a:r>
              <a:rPr lang="en-US" altLang="ja-JP" sz="2400" dirty="0"/>
              <a:t>USC </a:t>
            </a:r>
            <a:r>
              <a:rPr lang="ja-JP" altLang="en-US" sz="2400" dirty="0"/>
              <a:t>対話型感情動作キャプチャ</a:t>
            </a:r>
            <a:r>
              <a:rPr lang="en-US" altLang="ja-JP" sz="2400" dirty="0"/>
              <a:t>DB</a:t>
            </a:r>
            <a:r>
              <a:rPr lang="ja-JP" altLang="en-US" sz="2400" dirty="0"/>
              <a:t>） 　</a:t>
            </a:r>
            <a:endParaRPr lang="en-US" altLang="ja-JP" sz="2400" dirty="0"/>
          </a:p>
          <a:p>
            <a:pPr>
              <a:spcAft>
                <a:spcPts val="200"/>
              </a:spcAft>
            </a:pPr>
            <a:r>
              <a:rPr lang="en-US" altLang="ja-JP" sz="2400" dirty="0"/>
              <a:t>		10</a:t>
            </a:r>
            <a:r>
              <a:rPr lang="ja-JP" altLang="en-US" sz="2400" dirty="0"/>
              <a:t>話者（男</a:t>
            </a:r>
            <a:r>
              <a:rPr lang="en-US" altLang="ja-JP" sz="2400" dirty="0"/>
              <a:t>5</a:t>
            </a:r>
            <a:r>
              <a:rPr lang="ja-JP" altLang="en-US" sz="2400" dirty="0"/>
              <a:t>・女</a:t>
            </a:r>
            <a:r>
              <a:rPr lang="en-US" altLang="ja-JP" sz="2400" dirty="0"/>
              <a:t>5</a:t>
            </a:r>
            <a:r>
              <a:rPr lang="ja-JP" altLang="en-US" sz="2400" dirty="0"/>
              <a:t>）</a:t>
            </a:r>
            <a:r>
              <a:rPr lang="en-US" altLang="ja-JP" sz="2400" dirty="0"/>
              <a:t>× 5</a:t>
            </a:r>
            <a:r>
              <a:rPr lang="ja-JP" altLang="en-US" sz="2400" dirty="0"/>
              <a:t>セッション </a:t>
            </a:r>
            <a:r>
              <a:rPr lang="en-US" altLang="ja-JP" sz="2400" dirty="0"/>
              <a:t>× 9</a:t>
            </a:r>
            <a:r>
              <a:rPr lang="ja-JP" altLang="en-US" sz="2400" dirty="0"/>
              <a:t>感情 ≈ </a:t>
            </a:r>
            <a:r>
              <a:rPr lang="en-US" altLang="ja-JP" sz="2400" dirty="0"/>
              <a:t>10,039</a:t>
            </a:r>
            <a:r>
              <a:rPr lang="ja-JP" altLang="en-US" sz="2400" dirty="0"/>
              <a:t>発話</a:t>
            </a:r>
            <a:r>
              <a:rPr lang="en-US" sz="2400" dirty="0">
                <a:solidFill>
                  <a:srgbClr val="333333"/>
                </a:solidFill>
              </a:rPr>
              <a:t>	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・</a:t>
            </a:r>
            <a:r>
              <a:rPr lang="en-US" altLang="ja-JP" sz="2400" b="1" dirty="0"/>
              <a:t>MSP-Podcast</a:t>
            </a:r>
            <a:r>
              <a:rPr lang="ja-JP" altLang="en-US" sz="2400" dirty="0"/>
              <a:t>（</a:t>
            </a:r>
            <a:r>
              <a:rPr lang="en-US" altLang="ja-JP" sz="2400" dirty="0"/>
              <a:t>UT Dallas </a:t>
            </a:r>
            <a:r>
              <a:rPr lang="ja-JP" altLang="en-US" sz="2400" dirty="0"/>
              <a:t>ポッドキャスト感情コーパス） 　</a:t>
            </a:r>
            <a:endParaRPr lang="en-US" altLang="ja-JP" sz="2400" dirty="0"/>
          </a:p>
          <a:p>
            <a:pPr>
              <a:spcAft>
                <a:spcPts val="200"/>
              </a:spcAft>
            </a:pPr>
            <a:r>
              <a:rPr lang="en-US" altLang="ja-JP" sz="2400" dirty="0"/>
              <a:t>		</a:t>
            </a:r>
            <a:r>
              <a:rPr lang="ja-JP" altLang="en-US" sz="2400" dirty="0"/>
              <a:t>多数話者（自然収集）</a:t>
            </a:r>
            <a:r>
              <a:rPr lang="en-US" altLang="ja-JP" sz="2400" dirty="0"/>
              <a:t>× 8</a:t>
            </a:r>
            <a:r>
              <a:rPr lang="ja-JP" altLang="en-US" sz="2400" dirty="0"/>
              <a:t>感情カテゴリ ＋ </a:t>
            </a:r>
            <a:r>
              <a:rPr lang="en-US" altLang="ja-JP" sz="2400" dirty="0"/>
              <a:t>VAD</a:t>
            </a:r>
            <a:r>
              <a:rPr lang="ja-JP" altLang="en-US" sz="2400" dirty="0"/>
              <a:t>次元ラベル ≈ </a:t>
            </a:r>
            <a:r>
              <a:rPr lang="en-US" altLang="ja-JP" sz="2400" dirty="0"/>
              <a:t>90,000+</a:t>
            </a:r>
            <a:r>
              <a:rPr lang="ja-JP" altLang="en-US" sz="2400" dirty="0"/>
              <a:t>発話</a:t>
            </a:r>
            <a:endParaRPr lang="en-US" sz="24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ja-JP" sz="900">
                <a:solidFill>
                  <a:srgbClr val="999999"/>
                </a:solidFill>
              </a:rPr>
              <a:t>6 / 12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実験設定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1. Fine-tuning </a:t>
            </a:r>
            <a:r>
              <a:rPr sz="2800" dirty="0" err="1">
                <a:solidFill>
                  <a:srgbClr val="333333"/>
                </a:solidFill>
              </a:rPr>
              <a:t>設定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・実験1（VAD回帰）：</a:t>
            </a:r>
            <a:r>
              <a:rPr sz="2800" dirty="0" err="1">
                <a:solidFill>
                  <a:srgbClr val="333333"/>
                </a:solidFill>
              </a:rPr>
              <a:t>線形回帰ヘッド（Valence</a:t>
            </a:r>
            <a:r>
              <a:rPr sz="2800" dirty="0">
                <a:solidFill>
                  <a:srgbClr val="333333"/>
                </a:solidFill>
              </a:rPr>
              <a:t> / Arousal / Dominance 3次元連続値出力）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・実験2（感情分類）：線形分類ヘッド（</a:t>
            </a:r>
            <a:r>
              <a:rPr lang="en-US" altLang="ja-JP" sz="2800" dirty="0">
                <a:solidFill>
                  <a:srgbClr val="333333"/>
                </a:solidFill>
              </a:rPr>
              <a:t>4</a:t>
            </a:r>
            <a:r>
              <a:rPr sz="2800" dirty="0">
                <a:solidFill>
                  <a:srgbClr val="333333"/>
                </a:solidFill>
              </a:rPr>
              <a:t>クラス出力</a:t>
            </a:r>
            <a:r>
              <a:rPr lang="ja-JP" altLang="en-US" sz="2800" dirty="0">
                <a:solidFill>
                  <a:srgbClr val="333333"/>
                </a:solidFill>
              </a:rPr>
              <a:t> </a:t>
            </a:r>
            <a:r>
              <a:rPr lang="en-US" altLang="ja-JP" sz="2800" dirty="0">
                <a:solidFill>
                  <a:srgbClr val="333333"/>
                </a:solidFill>
              </a:rPr>
              <a:t>/hap/sad/ang/</a:t>
            </a:r>
            <a:r>
              <a:rPr lang="ja-JP" altLang="en-US" sz="2800" dirty="0">
                <a:solidFill>
                  <a:srgbClr val="333333"/>
                </a:solidFill>
              </a:rPr>
              <a:t>嫌悪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2. </a:t>
            </a:r>
            <a:r>
              <a:rPr sz="2800" dirty="0" err="1">
                <a:solidFill>
                  <a:srgbClr val="333333"/>
                </a:solidFill>
              </a:rPr>
              <a:t>評価方法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話者独立型交差検証（LOSO：Leave-One-Speaker-Out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3. </a:t>
            </a:r>
            <a:r>
              <a:rPr sz="2800" dirty="0" err="1">
                <a:solidFill>
                  <a:srgbClr val="333333"/>
                </a:solidFill>
              </a:rPr>
              <a:t>評価指標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・実験1：Valence / Arousal </a:t>
            </a:r>
            <a:r>
              <a:rPr sz="2800" dirty="0" err="1">
                <a:solidFill>
                  <a:srgbClr val="333333"/>
                </a:solidFill>
              </a:rPr>
              <a:t>の相関係数</a:t>
            </a:r>
            <a:r>
              <a:rPr sz="2800" dirty="0">
                <a:solidFill>
                  <a:srgbClr val="333333"/>
                </a:solidFill>
              </a:rPr>
              <a:t>, </a:t>
            </a:r>
            <a:r>
              <a:rPr sz="2800" dirty="0" err="1">
                <a:solidFill>
                  <a:srgbClr val="333333"/>
                </a:solidFill>
              </a:rPr>
              <a:t>Dominanceは検討中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   ・実験2：WA（加重精度）/ Macro-F1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2CA950-B962-23B3-D954-43D4093F8AC8}"/>
              </a:ext>
            </a:extLst>
          </p:cNvPr>
          <p:cNvSpPr txBox="1"/>
          <p:nvPr/>
        </p:nvSpPr>
        <p:spPr>
          <a:xfrm>
            <a:off x="10515600" y="279400"/>
            <a:ext cx="1143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r"/>
            <a:r>
              <a:rPr kumimoji="1" lang="en-US" altLang="ja-JP" sz="1200" b="1">
                <a:solidFill>
                  <a:srgbClr val="47556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 / 12</a:t>
            </a:r>
            <a:endParaRPr kumimoji="1" lang="ja-JP" altLang="en-US" sz="1200" b="1">
              <a:solidFill>
                <a:srgbClr val="475569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6BE786-4310-8E72-BBBA-42EA73E0CB21}"/>
              </a:ext>
            </a:extLst>
          </p:cNvPr>
          <p:cNvSpPr txBox="1"/>
          <p:nvPr/>
        </p:nvSpPr>
        <p:spPr>
          <a:xfrm>
            <a:off x="533400" y="317500"/>
            <a:ext cx="9715500" cy="44114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kumimoji="1" lang="ja-JP" altLang="en-US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今回の進捗は、</a:t>
            </a:r>
            <a:r>
              <a:rPr kumimoji="1" lang="en-US" altLang="ja-JP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VAD</a:t>
            </a:r>
            <a:r>
              <a:rPr kumimoji="1" lang="ja-JP" altLang="en-US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を経由して分類根拠を確認する実装基盤である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93B46A-4EBD-C275-EBD6-9E7BB207D997}"/>
              </a:ext>
            </a:extLst>
          </p:cNvPr>
          <p:cNvSpPr/>
          <p:nvPr/>
        </p:nvSpPr>
        <p:spPr>
          <a:xfrm>
            <a:off x="533400" y="1117600"/>
            <a:ext cx="11125200" cy="25400"/>
          </a:xfrm>
          <a:prstGeom prst="rect">
            <a:avLst/>
          </a:prstGeom>
          <a:gradFill flip="none" rotWithShape="1">
            <a:gsLst>
              <a:gs pos="0">
                <a:srgbClr val="E2E8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E525951-E3F6-DEFE-A2DE-3AD53CA83496}"/>
              </a:ext>
            </a:extLst>
          </p:cNvPr>
          <p:cNvSpPr/>
          <p:nvPr/>
        </p:nvSpPr>
        <p:spPr>
          <a:xfrm>
            <a:off x="254124" y="2097378"/>
            <a:ext cx="2677652" cy="1735058"/>
          </a:xfrm>
          <a:prstGeom prst="roundRect">
            <a:avLst/>
          </a:prstGeom>
          <a:gradFill flip="none"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b="1" dirty="0">
                <a:solidFill>
                  <a:srgbClr val="2563E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emotion2vec</a:t>
            </a:r>
            <a:r>
              <a:rPr kumimoji="1" lang="ja-JP" altLang="en-US" b="1" dirty="0">
                <a:solidFill>
                  <a:srgbClr val="2563E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特徴</a:t>
            </a:r>
          </a:p>
          <a:p>
            <a:pPr algn="ctr"/>
            <a:r>
              <a:rPr kumimoji="1" lang="ja-JP" altLang="en-US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音声表現</a:t>
            </a:r>
          </a:p>
          <a:p>
            <a:pPr algn="ctr"/>
            <a:r>
              <a:rPr kumimoji="1" lang="en-US" altLang="ja-JP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768</a:t>
            </a:r>
            <a:r>
              <a:rPr kumimoji="1" lang="ja-JP" altLang="en-US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次元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FFE68774-A16C-8E27-9B5A-EE6083394251}"/>
              </a:ext>
            </a:extLst>
          </p:cNvPr>
          <p:cNvSpPr/>
          <p:nvPr/>
        </p:nvSpPr>
        <p:spPr>
          <a:xfrm>
            <a:off x="3044470" y="2746166"/>
            <a:ext cx="750782" cy="341540"/>
          </a:xfrm>
          <a:prstGeom prst="rightArrow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3350714-9CE7-44BD-A77B-E1712FC0B5D4}"/>
              </a:ext>
            </a:extLst>
          </p:cNvPr>
          <p:cNvSpPr/>
          <p:nvPr/>
        </p:nvSpPr>
        <p:spPr>
          <a:xfrm>
            <a:off x="3898931" y="2097378"/>
            <a:ext cx="2712852" cy="1600610"/>
          </a:xfrm>
          <a:prstGeom prst="roundRect">
            <a:avLst/>
          </a:prstGeom>
          <a:gradFill flip="none" rotWithShape="1">
            <a:gsLst>
              <a:gs pos="0">
                <a:srgbClr val="F8FA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zh-TW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Yu Gothic" panose="020B0400000000000000" pitchFamily="50" charset="-128"/>
                <a:ea typeface="Yu Gothic" panose="020B0400000000000000" pitchFamily="50" charset="-128"/>
              </a:rPr>
              <a:t>pooling / FNN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0D8097D0-1B30-D9F8-D082-3F2A973496D2}"/>
              </a:ext>
            </a:extLst>
          </p:cNvPr>
          <p:cNvSpPr/>
          <p:nvPr/>
        </p:nvSpPr>
        <p:spPr>
          <a:xfrm>
            <a:off x="6811704" y="2662255"/>
            <a:ext cx="806245" cy="425451"/>
          </a:xfrm>
          <a:prstGeom prst="rightArrow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15C15E4-7124-6C16-30CF-021518F82019}"/>
              </a:ext>
            </a:extLst>
          </p:cNvPr>
          <p:cNvSpPr/>
          <p:nvPr/>
        </p:nvSpPr>
        <p:spPr>
          <a:xfrm>
            <a:off x="8063303" y="2043150"/>
            <a:ext cx="2930731" cy="1600610"/>
          </a:xfrm>
          <a:prstGeom prst="roundRect">
            <a:avLst/>
          </a:prstGeom>
          <a:gradFill flip="none" rotWithShape="1">
            <a:gsLst>
              <a:gs pos="0">
                <a:srgbClr val="ECFD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b="1" dirty="0">
                <a:solidFill>
                  <a:srgbClr val="0E749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predicted VAD</a:t>
            </a:r>
          </a:p>
          <a:p>
            <a:pPr algn="ctr"/>
            <a:r>
              <a:rPr kumimoji="1" lang="en-US" altLang="ja-JP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Valence</a:t>
            </a:r>
          </a:p>
          <a:p>
            <a:pPr algn="ctr"/>
            <a:r>
              <a:rPr kumimoji="1" lang="en-US" altLang="ja-JP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Arousal</a:t>
            </a:r>
          </a:p>
          <a:p>
            <a:pPr algn="ctr"/>
            <a:r>
              <a:rPr kumimoji="1" lang="en-US" altLang="ja-JP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Dominance</a:t>
            </a:r>
            <a:endParaRPr kumimoji="1" lang="ja-JP" altLang="en-US" dirty="0">
              <a:solidFill>
                <a:srgbClr val="1E293B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C69773C6-9D78-CC99-1EF6-54E8D62FA9D6}"/>
              </a:ext>
            </a:extLst>
          </p:cNvPr>
          <p:cNvSpPr/>
          <p:nvPr/>
        </p:nvSpPr>
        <p:spPr>
          <a:xfrm>
            <a:off x="1899261" y="5202143"/>
            <a:ext cx="806245" cy="310160"/>
          </a:xfrm>
          <a:prstGeom prst="rightArrow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90F375D-444E-CFC5-C61F-BAFC9F984EE6}"/>
              </a:ext>
            </a:extLst>
          </p:cNvPr>
          <p:cNvSpPr/>
          <p:nvPr/>
        </p:nvSpPr>
        <p:spPr>
          <a:xfrm>
            <a:off x="3275626" y="4604106"/>
            <a:ext cx="3073810" cy="1481877"/>
          </a:xfrm>
          <a:prstGeom prst="roundRect">
            <a:avLst/>
          </a:prstGeom>
          <a:gradFill flip="none" rotWithShape="1">
            <a:gsLst>
              <a:gs pos="0">
                <a:srgbClr val="FFFBE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b="1" dirty="0">
                <a:solidFill>
                  <a:srgbClr val="B4530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Linear</a:t>
            </a:r>
          </a:p>
          <a:p>
            <a:pPr algn="ctr"/>
            <a:r>
              <a:rPr kumimoji="1" lang="en-US" altLang="ja-JP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VAD</a:t>
            </a:r>
            <a:r>
              <a:rPr kumimoji="1" lang="ja-JP" altLang="en-US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のみを入力</a:t>
            </a:r>
          </a:p>
          <a:p>
            <a:pPr algn="ctr"/>
            <a:r>
              <a:rPr kumimoji="1" lang="ja-JP" altLang="en-US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感情を分類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55C48342-306A-16DF-9759-6D5DED2BD04E}"/>
              </a:ext>
            </a:extLst>
          </p:cNvPr>
          <p:cNvSpPr/>
          <p:nvPr/>
        </p:nvSpPr>
        <p:spPr>
          <a:xfrm>
            <a:off x="6611783" y="5189964"/>
            <a:ext cx="806245" cy="310160"/>
          </a:xfrm>
          <a:prstGeom prst="rightArrow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831A7CC-7375-C632-3647-44147B12E7C2}"/>
              </a:ext>
            </a:extLst>
          </p:cNvPr>
          <p:cNvSpPr/>
          <p:nvPr/>
        </p:nvSpPr>
        <p:spPr>
          <a:xfrm>
            <a:off x="7735222" y="4604106"/>
            <a:ext cx="2620297" cy="1481877"/>
          </a:xfrm>
          <a:prstGeom prst="roundRect">
            <a:avLst/>
          </a:prstGeom>
          <a:gradFill flip="none"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sv-SE" altLang="ja-JP" b="1" dirty="0">
                <a:solidFill>
                  <a:srgbClr val="2563E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emotion</a:t>
            </a:r>
          </a:p>
          <a:p>
            <a:pPr algn="ctr"/>
            <a:r>
              <a:rPr kumimoji="1" lang="sv-SE" altLang="ja-JP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hap / sad</a:t>
            </a:r>
          </a:p>
          <a:p>
            <a:pPr algn="ctr"/>
            <a:r>
              <a:rPr kumimoji="1" lang="sv-SE" altLang="ja-JP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ang / dis</a:t>
            </a:r>
            <a:endParaRPr kumimoji="1" lang="ja-JP" altLang="en-US" dirty="0">
              <a:solidFill>
                <a:srgbClr val="1E293B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733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E8932F-87E0-DCFF-AC72-F1A12429993A}"/>
              </a:ext>
            </a:extLst>
          </p:cNvPr>
          <p:cNvSpPr txBox="1"/>
          <p:nvPr/>
        </p:nvSpPr>
        <p:spPr>
          <a:xfrm>
            <a:off x="10515600" y="279400"/>
            <a:ext cx="1143000" cy="28725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pPr algn="r"/>
            <a:r>
              <a:rPr kumimoji="1" lang="en-US" altLang="ja-JP" sz="1200" b="1">
                <a:solidFill>
                  <a:srgbClr val="47556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 / 12</a:t>
            </a:r>
            <a:endParaRPr kumimoji="1" lang="ja-JP" altLang="en-US" sz="1200" b="1">
              <a:solidFill>
                <a:srgbClr val="475569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2908C7-00AC-5031-370E-4E688669C021}"/>
              </a:ext>
            </a:extLst>
          </p:cNvPr>
          <p:cNvSpPr txBox="1"/>
          <p:nvPr/>
        </p:nvSpPr>
        <p:spPr>
          <a:xfrm>
            <a:off x="533400" y="317500"/>
            <a:ext cx="9715500" cy="44114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spAutoFit/>
          </a:bodyPr>
          <a:lstStyle/>
          <a:p>
            <a:r>
              <a:rPr kumimoji="1" lang="ja-JP" altLang="en-US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次は実データ評価で、日本語</a:t>
            </a:r>
            <a:r>
              <a:rPr kumimoji="1" lang="en-US" altLang="ja-JP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SER</a:t>
            </a:r>
            <a:r>
              <a:rPr kumimoji="1" lang="ja-JP" altLang="en-US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改善と英語</a:t>
            </a:r>
            <a:r>
              <a:rPr kumimoji="1" lang="en-US" altLang="ja-JP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SER</a:t>
            </a:r>
            <a:r>
              <a:rPr kumimoji="1" lang="ja-JP" altLang="en-US" sz="2200" b="1">
                <a:solidFill>
                  <a:srgbClr val="152F5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維持を数値化する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FDB7D5-110C-24D5-5AD8-AE4281875171}"/>
              </a:ext>
            </a:extLst>
          </p:cNvPr>
          <p:cNvSpPr/>
          <p:nvPr/>
        </p:nvSpPr>
        <p:spPr>
          <a:xfrm>
            <a:off x="533400" y="1117600"/>
            <a:ext cx="11125200" cy="25400"/>
          </a:xfrm>
          <a:prstGeom prst="rect">
            <a:avLst/>
          </a:prstGeom>
          <a:gradFill flip="none" rotWithShape="1">
            <a:gsLst>
              <a:gs pos="0">
                <a:srgbClr val="E2E8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E0DD526-8461-110B-F955-BC9DF713F56B}"/>
              </a:ext>
            </a:extLst>
          </p:cNvPr>
          <p:cNvSpPr/>
          <p:nvPr/>
        </p:nvSpPr>
        <p:spPr>
          <a:xfrm>
            <a:off x="914400" y="1727200"/>
            <a:ext cx="685800" cy="685800"/>
          </a:xfrm>
          <a:prstGeom prst="roundRect">
            <a:avLst/>
          </a:prstGeom>
          <a:gradFill flip="none"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sz="2400" b="1">
                <a:solidFill>
                  <a:srgbClr val="2563E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2563EB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A03C9C-6DD9-FB97-7820-6EBE47D09781}"/>
              </a:ext>
            </a:extLst>
          </p:cNvPr>
          <p:cNvSpPr/>
          <p:nvPr/>
        </p:nvSpPr>
        <p:spPr>
          <a:xfrm>
            <a:off x="660400" y="2743200"/>
            <a:ext cx="2108200" cy="11938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ja-JP" altLang="en-US" sz="1700" b="1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テスト完走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12B42B7C-2C81-F829-70DA-15308F16FF2B}"/>
              </a:ext>
            </a:extLst>
          </p:cNvPr>
          <p:cNvSpPr/>
          <p:nvPr/>
        </p:nvSpPr>
        <p:spPr>
          <a:xfrm>
            <a:off x="2895600" y="3263900"/>
            <a:ext cx="482600" cy="228600"/>
          </a:xfrm>
          <a:prstGeom prst="rightArrow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9C35AF2-4D2C-0EE5-54F4-938EF54EA2F8}"/>
              </a:ext>
            </a:extLst>
          </p:cNvPr>
          <p:cNvSpPr/>
          <p:nvPr/>
        </p:nvSpPr>
        <p:spPr>
          <a:xfrm>
            <a:off x="3581400" y="1727200"/>
            <a:ext cx="685800" cy="685800"/>
          </a:xfrm>
          <a:prstGeom prst="roundRect">
            <a:avLst/>
          </a:prstGeom>
          <a:gradFill flip="none" rotWithShape="1">
            <a:gsLst>
              <a:gs pos="0">
                <a:srgbClr val="ECFD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sz="2400" b="1">
                <a:solidFill>
                  <a:srgbClr val="0E749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0E749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059BED-5B2E-E701-2C3B-8D1EE4E6FC23}"/>
              </a:ext>
            </a:extLst>
          </p:cNvPr>
          <p:cNvSpPr/>
          <p:nvPr/>
        </p:nvSpPr>
        <p:spPr>
          <a:xfrm>
            <a:off x="3327400" y="2743200"/>
            <a:ext cx="2108200" cy="11938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hap/sad/ang/dis</a:t>
            </a:r>
          </a:p>
          <a:p>
            <a:pPr algn="ctr"/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分布確認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1E81478F-336A-D8EC-CCDD-205CAB67F3ED}"/>
              </a:ext>
            </a:extLst>
          </p:cNvPr>
          <p:cNvSpPr/>
          <p:nvPr/>
        </p:nvSpPr>
        <p:spPr>
          <a:xfrm>
            <a:off x="5562600" y="3263900"/>
            <a:ext cx="482600" cy="228600"/>
          </a:xfrm>
          <a:prstGeom prst="rightArrow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AFDAF72-8625-0C3C-9C0D-66B6C2D50632}"/>
              </a:ext>
            </a:extLst>
          </p:cNvPr>
          <p:cNvSpPr/>
          <p:nvPr/>
        </p:nvSpPr>
        <p:spPr>
          <a:xfrm>
            <a:off x="6248400" y="1727200"/>
            <a:ext cx="685800" cy="685800"/>
          </a:xfrm>
          <a:prstGeom prst="roundRect">
            <a:avLst/>
          </a:prstGeom>
          <a:gradFill flip="none" rotWithShape="1">
            <a:gsLst>
              <a:gs pos="0">
                <a:srgbClr val="FFFBE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sz="2400" b="1">
                <a:solidFill>
                  <a:srgbClr val="B4530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B45309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298AA4B-D2D8-774F-06A2-0598B5964CE6}"/>
              </a:ext>
            </a:extLst>
          </p:cNvPr>
          <p:cNvSpPr/>
          <p:nvPr/>
        </p:nvSpPr>
        <p:spPr>
          <a:xfrm>
            <a:off x="5994400" y="2743200"/>
            <a:ext cx="2108200" cy="11938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VAD</a:t>
            </a:r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媒介型分類を</a:t>
            </a:r>
          </a:p>
          <a:p>
            <a:pPr algn="ctr"/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実データ評価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2133DDA1-E869-07CA-69E4-BDC09FEEE35A}"/>
              </a:ext>
            </a:extLst>
          </p:cNvPr>
          <p:cNvSpPr/>
          <p:nvPr/>
        </p:nvSpPr>
        <p:spPr>
          <a:xfrm>
            <a:off x="8229600" y="3263900"/>
            <a:ext cx="482600" cy="228600"/>
          </a:xfrm>
          <a:prstGeom prst="rightArrow">
            <a:avLst/>
          </a:prstGeom>
          <a:gradFill flip="none"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F31CA9E-17F4-ECFC-6AA3-3BB820070660}"/>
              </a:ext>
            </a:extLst>
          </p:cNvPr>
          <p:cNvSpPr/>
          <p:nvPr/>
        </p:nvSpPr>
        <p:spPr>
          <a:xfrm>
            <a:off x="8915400" y="1727200"/>
            <a:ext cx="685800" cy="685800"/>
          </a:xfrm>
          <a:prstGeom prst="roundRect">
            <a:avLst/>
          </a:prstGeom>
          <a:gradFill flip="none" rotWithShape="1">
            <a:gsLst>
              <a:gs pos="0">
                <a:srgbClr val="F0FDF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sz="2400" b="1">
                <a:solidFill>
                  <a:srgbClr val="1665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2400" b="1">
              <a:solidFill>
                <a:srgbClr val="1665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59DC275-1622-2858-899B-3B6945AAE8B4}"/>
              </a:ext>
            </a:extLst>
          </p:cNvPr>
          <p:cNvSpPr/>
          <p:nvPr/>
        </p:nvSpPr>
        <p:spPr>
          <a:xfrm>
            <a:off x="8661400" y="2743200"/>
            <a:ext cx="2108200" cy="11938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en-US" altLang="ja-JP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fine-tuning</a:t>
            </a:r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前後で</a:t>
            </a:r>
          </a:p>
          <a:p>
            <a:pPr algn="ctr"/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日英</a:t>
            </a:r>
            <a:r>
              <a:rPr kumimoji="1" lang="en-US" altLang="ja-JP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SER</a:t>
            </a:r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比較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D8414B6-C1C9-C294-A4F0-FC3E63C74506}"/>
              </a:ext>
            </a:extLst>
          </p:cNvPr>
          <p:cNvSpPr/>
          <p:nvPr/>
        </p:nvSpPr>
        <p:spPr>
          <a:xfrm>
            <a:off x="2851150" y="4800600"/>
            <a:ext cx="2540000" cy="736600"/>
          </a:xfrm>
          <a:prstGeom prst="rect">
            <a:avLst/>
          </a:prstGeom>
          <a:gradFill flip="none"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数値化</a:t>
            </a:r>
          </a:p>
          <a:p>
            <a:pPr algn="ctr"/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日本語</a:t>
            </a:r>
            <a:r>
              <a:rPr kumimoji="1" lang="en-US" altLang="ja-JP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SER</a:t>
            </a:r>
            <a:r>
              <a:rPr kumimoji="1" lang="ja-JP" altLang="en-US" sz="1700" b="1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改善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40D9C5B-B6AC-16AE-E93F-F586760F71D6}"/>
              </a:ext>
            </a:extLst>
          </p:cNvPr>
          <p:cNvSpPr/>
          <p:nvPr/>
        </p:nvSpPr>
        <p:spPr>
          <a:xfrm>
            <a:off x="6094412" y="4800600"/>
            <a:ext cx="2540000" cy="736600"/>
          </a:xfrm>
          <a:prstGeom prst="rect">
            <a:avLst/>
          </a:prstGeom>
          <a:gradFill flip="none" rotWithShape="1">
            <a:gsLst>
              <a:gs pos="0">
                <a:srgbClr val="ECFD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/>
          <a:lstStyle/>
          <a:p>
            <a:pPr algn="ctr"/>
            <a:r>
              <a:rPr kumimoji="1" lang="zh-TW" altLang="en-US" sz="1700" b="1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同時確認</a:t>
            </a:r>
          </a:p>
          <a:p>
            <a:pPr algn="ctr"/>
            <a:r>
              <a:rPr kumimoji="1" lang="zh-TW" altLang="en-US" sz="1700" b="1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英語</a:t>
            </a:r>
            <a:r>
              <a:rPr kumimoji="1" lang="en-US" altLang="zh-TW" sz="1700" b="1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SER</a:t>
            </a:r>
            <a:r>
              <a:rPr kumimoji="1" lang="zh-TW" altLang="en-US" sz="1700" b="1" dirty="0">
                <a:solidFill>
                  <a:srgbClr val="1E293B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維持</a:t>
            </a:r>
            <a:endParaRPr kumimoji="1" lang="ja-JP" altLang="en-US" sz="1700" b="1" dirty="0">
              <a:solidFill>
                <a:srgbClr val="1E293B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720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6961" y="6400800"/>
            <a:ext cx="5116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ja-JP" sz="900">
                <a:solidFill>
                  <a:srgbClr val="999999"/>
                </a:solidFill>
              </a:rPr>
              <a:t>12 / 12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rtlCol="0" anchor="ctr"/>
          <a:lstStyle/>
          <a:p>
            <a:pPr algn="l"/>
            <a:r>
              <a:rPr sz="2400" b="1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80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dirty="0" err="1">
                <a:solidFill>
                  <a:srgbClr val="333333"/>
                </a:solidFill>
              </a:rPr>
              <a:t>本研究の要点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・emotion2vec </a:t>
            </a:r>
            <a:r>
              <a:rPr sz="2800" dirty="0" err="1">
                <a:solidFill>
                  <a:srgbClr val="333333"/>
                </a:solidFill>
              </a:rPr>
              <a:t>を日本語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lang="ja-JP" altLang="en-US" sz="2800" dirty="0">
                <a:solidFill>
                  <a:srgbClr val="333333"/>
                </a:solidFill>
              </a:rPr>
              <a:t>音声データで</a:t>
            </a:r>
            <a:r>
              <a:rPr sz="2800" dirty="0">
                <a:solidFill>
                  <a:srgbClr val="333333"/>
                </a:solidFill>
              </a:rPr>
              <a:t>fine-tuning </a:t>
            </a:r>
            <a:r>
              <a:rPr sz="2800" dirty="0" err="1">
                <a:solidFill>
                  <a:srgbClr val="333333"/>
                </a:solidFill>
              </a:rPr>
              <a:t>し、日本語</a:t>
            </a:r>
            <a:r>
              <a:rPr sz="2800" dirty="0">
                <a:solidFill>
                  <a:srgbClr val="333333"/>
                </a:solidFill>
              </a:rPr>
              <a:t> SER </a:t>
            </a:r>
            <a:r>
              <a:rPr sz="2800" dirty="0" err="1">
                <a:solidFill>
                  <a:srgbClr val="333333"/>
                </a:solidFill>
              </a:rPr>
              <a:t>の精度を検証する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・研究室既存モデルとの比較により、音声感情表現のための自己教師あり事前学習 の貢献を定量的に示す</a:t>
            </a:r>
          </a:p>
          <a:p>
            <a:pPr>
              <a:spcAft>
                <a:spcPts val="200"/>
              </a:spcAft>
            </a:pPr>
            <a:r>
              <a:rPr sz="2800" dirty="0">
                <a:solidFill>
                  <a:srgbClr val="333333"/>
                </a:solidFill>
              </a:rPr>
              <a:t>・データ：HCUDB（1,680発話）、</a:t>
            </a:r>
            <a:r>
              <a:rPr sz="2800" dirty="0" err="1">
                <a:solidFill>
                  <a:srgbClr val="333333"/>
                </a:solidFill>
              </a:rPr>
              <a:t>評価：LOSO、指標：WA</a:t>
            </a:r>
            <a:r>
              <a:rPr sz="2800" dirty="0">
                <a:solidFill>
                  <a:srgbClr val="333333"/>
                </a:solidFill>
              </a:rPr>
              <a:t> / Macro-F1</a:t>
            </a: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778</Words>
  <Application>Microsoft Office PowerPoint</Application>
  <PresentationFormat>ユーザー設定</PresentationFormat>
  <Paragraphs>101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AKIYAMA KANATA</cp:lastModifiedBy>
  <cp:revision>25</cp:revision>
  <dcterms:created xsi:type="dcterms:W3CDTF">2013-01-27T09:14:16Z</dcterms:created>
  <dcterms:modified xsi:type="dcterms:W3CDTF">2026-07-05T06:18:52Z</dcterms:modified>
  <cp:category/>
</cp:coreProperties>
</file>