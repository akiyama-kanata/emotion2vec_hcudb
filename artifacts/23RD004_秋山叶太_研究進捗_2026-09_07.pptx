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5bc0f0b864416" /><Relationship Type="http://schemas.openxmlformats.org/officeDocument/2006/relationships/extended-properties" Target="/docProps/app.xml" Id="R706a2d9a19de41c8" /><Relationship Type="http://schemas.openxmlformats.org/officeDocument/2006/relationships/officeDocument" Target="/ppt/presentation.xml" Id="R5dc0c5aa34444f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ceb0ead6041d3"/>
  </p:sldMasterIdLst>
  <p:notesMasterIdLst>
    <p:notesMasterId xmlns:r="http://schemas.openxmlformats.org/officeDocument/2006/relationships" r:id="R666833f8570c46cd"/>
  </p:notesMasterIdLst>
  <p:sldIdLst>
    <p:sldId xmlns:r="http://schemas.openxmlformats.org/officeDocument/2006/relationships" id="256" r:id="Rddd872bf883d437d"/>
    <p:sldId xmlns:r="http://schemas.openxmlformats.org/officeDocument/2006/relationships" id="257" r:id="Rb36f5cd2e69c4160"/>
    <p:sldId xmlns:r="http://schemas.openxmlformats.org/officeDocument/2006/relationships" id="258" r:id="Rf8a5779eb7834ce6"/>
    <p:sldId xmlns:r="http://schemas.openxmlformats.org/officeDocument/2006/relationships" id="259" r:id="R973299163c0d45fa"/>
    <p:sldId xmlns:r="http://schemas.openxmlformats.org/officeDocument/2006/relationships" id="260" r:id="R732b1d8a1dde4f40"/>
    <p:sldId xmlns:r="http://schemas.openxmlformats.org/officeDocument/2006/relationships" id="261" r:id="R96907ebe74f84d91"/>
    <p:sldId xmlns:r="http://schemas.openxmlformats.org/officeDocument/2006/relationships" id="262" r:id="R6f582704aaf1474f"/>
    <p:sldId xmlns:r="http://schemas.openxmlformats.org/officeDocument/2006/relationships" id="263" r:id="Rc40b71dd848440c0"/>
    <p:sldId xmlns:r="http://schemas.openxmlformats.org/officeDocument/2006/relationships" id="264" r:id="R320e441934984071"/>
    <p:sldId xmlns:r="http://schemas.openxmlformats.org/officeDocument/2006/relationships" id="265" r:id="R9325d064d2474cf5"/>
    <p:sldId xmlns:r="http://schemas.openxmlformats.org/officeDocument/2006/relationships" id="266" r:id="R0ccaab7f870b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70457c20141a6" /><Relationship Type="http://schemas.openxmlformats.org/officeDocument/2006/relationships/slideMaster" Target="/ppt/slideMasters/slideMaster1.xml" Id="R17fceb0ead6041d3" /><Relationship Type="http://schemas.openxmlformats.org/officeDocument/2006/relationships/notesMaster" Target="/ppt/notesMasters/notesMaster1.xml" Id="R666833f8570c46cd" /><Relationship Type="http://schemas.openxmlformats.org/officeDocument/2006/relationships/presProps" Target="/ppt/presProps.xml" Id="R134fb312e9e94c42" /><Relationship Type="http://schemas.openxmlformats.org/officeDocument/2006/relationships/viewProps" Target="/ppt/viewProps.xml" Id="R7e10ad4c4c7646bd" /><Relationship Type="http://schemas.openxmlformats.org/officeDocument/2006/relationships/tableStyles" Target="/ppt/tableStyles.xml" Id="Re6556281165c4c8b" /><Relationship Type="http://schemas.openxmlformats.org/officeDocument/2006/relationships/slide" Target="/ppt/slides/slide1.xml" Id="Rddd872bf883d437d" /><Relationship Type="http://schemas.openxmlformats.org/officeDocument/2006/relationships/slide" Target="/ppt/slides/slide2.xml" Id="Rb36f5cd2e69c4160" /><Relationship Type="http://schemas.openxmlformats.org/officeDocument/2006/relationships/slide" Target="/ppt/slides/slide3.xml" Id="Rf8a5779eb7834ce6" /><Relationship Type="http://schemas.openxmlformats.org/officeDocument/2006/relationships/slide" Target="/ppt/slides/slide4.xml" Id="R973299163c0d45fa" /><Relationship Type="http://schemas.openxmlformats.org/officeDocument/2006/relationships/slide" Target="/ppt/slides/slide5.xml" Id="R732b1d8a1dde4f40" /><Relationship Type="http://schemas.openxmlformats.org/officeDocument/2006/relationships/slide" Target="/ppt/slides/slide6.xml" Id="R96907ebe74f84d91" /><Relationship Type="http://schemas.openxmlformats.org/officeDocument/2006/relationships/slide" Target="/ppt/slides/slide7.xml" Id="R6f582704aaf1474f" /><Relationship Type="http://schemas.openxmlformats.org/officeDocument/2006/relationships/slide" Target="/ppt/slides/slide8.xml" Id="Rc40b71dd848440c0" /><Relationship Type="http://schemas.openxmlformats.org/officeDocument/2006/relationships/slide" Target="/ppt/slides/slide9.xml" Id="R320e441934984071" /><Relationship Type="http://schemas.openxmlformats.org/officeDocument/2006/relationships/slide" Target="/ppt/slides/slide10.xml" Id="R9325d064d2474cf5" /><Relationship Type="http://schemas.openxmlformats.org/officeDocument/2006/relationships/slide" Target="/ppt/slides/slide11.xml" Id="R0ccaab7f870b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9983ebc251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9b1c3995240de" /><Relationship Type="http://schemas.openxmlformats.org/officeDocument/2006/relationships/notesMaster" Target="/ppt/notesMasters/notesMaster1.xml" Id="R986449549e43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056b6c1be4bd9" /><Relationship Type="http://schemas.openxmlformats.org/officeDocument/2006/relationships/notesMaster" Target="/ppt/notesMasters/notesMaster1.xml" Id="R122695fba7f946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5b8975f574a54" /><Relationship Type="http://schemas.openxmlformats.org/officeDocument/2006/relationships/notesMaster" Target="/ppt/notesMasters/notesMaster1.xml" Id="R1b248cf5a8c940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75d6f48ef416b" /><Relationship Type="http://schemas.openxmlformats.org/officeDocument/2006/relationships/notesMaster" Target="/ppt/notesMasters/notesMaster1.xml" Id="Rc0f8bca4d85f44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f81f6ccddd475b" /><Relationship Type="http://schemas.openxmlformats.org/officeDocument/2006/relationships/notesMaster" Target="/ppt/notesMasters/notesMaster1.xml" Id="Rb08c3e2bf4c34e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df3e8aaca4ec9" /><Relationship Type="http://schemas.openxmlformats.org/officeDocument/2006/relationships/notesMaster" Target="/ppt/notesMasters/notesMaster1.xml" Id="R5408b41d08d249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3b00cda014ad8" /><Relationship Type="http://schemas.openxmlformats.org/officeDocument/2006/relationships/notesMaster" Target="/ppt/notesMasters/notesMaster1.xml" Id="R713c72c2269b4a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95080e703477e" /><Relationship Type="http://schemas.openxmlformats.org/officeDocument/2006/relationships/notesMaster" Target="/ppt/notesMasters/notesMaster1.xml" Id="Rd709ef3da543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cc608feebf4bb0" /><Relationship Type="http://schemas.openxmlformats.org/officeDocument/2006/relationships/notesMaster" Target="/ppt/notesMasters/notesMaster1.xml" Id="R548b95eb38a348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8941986f84150" /><Relationship Type="http://schemas.openxmlformats.org/officeDocument/2006/relationships/notesMaster" Target="/ppt/notesMasters/notesMaster1.xml" Id="Raaa4b67a5a2e40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915fa584c347fa" /><Relationship Type="http://schemas.openxmlformats.org/officeDocument/2006/relationships/notesMaster" Target="/ppt/notesMasters/notesMaster1.xml" Id="R03db0646314d47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今回の更新範囲：2026年8月24日のMSP-Podcast取得中から、データ整備、特徴抽出、3 seed学習、追加学習前後評価、クラス重み比較まで。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docs/reports/2026-09-03-saved-results-review/report.md</a:t>
            </a:r>
            <a:endParaRPr/>
          </a:p>
          <a:p xmlns:a="http://schemas.openxmlformats.org/drawingml/2006/main">
            <a:r>
              <a:t>- Local: runs/ser_decoder_study/formal/initial-seed-42/study_summary.json</a:t>
            </a:r>
            <a:endParaRPr/>
          </a:p>
          <a:p xmlns:a="http://schemas.openxmlformats.org/drawingml/2006/main">
            <a:r>
              <a:t>- Local: runs/ser_decoder_study/formal/followup-seeds-43-44/study_summary.json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背景詳細は口頭で説明する。UARは各クラスのrecallの平均として扱う。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https://aclanthology.org/2024.findings-acl.931/</a:t>
            </a:r>
            <a:endParaRPr/>
          </a:p>
          <a:p xmlns:a="http://schemas.openxmlformats.org/drawingml/2006/main">
            <a:r>
              <a:t>- https://scikit-learn.org/stable/modules/generated/sklearn.metrics.balanced_accuracy_score.html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emotion2vecの正式論文情報を記載。関連モデル名と研究室内構成は元PPTXの既存記載を簡略化した。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Ma et al. (2024), emotion2vec: Self-Supervised Pre-Training for Speech Emotion Representation, Findings of ACL 2024, pp. 15747–15760, DOI: 10.18653/v1/2024.findings-acl.931</a:t>
            </a:r>
            <a:endParaRPr/>
          </a:p>
          <a:p xmlns:a="http://schemas.openxmlformats.org/drawingml/2006/main">
            <a:r>
              <a:t>- https://aclanthology.org/2024.findings-acl.931/</a:t>
            </a:r>
            <a:endParaRPr/>
          </a:p>
          <a:p xmlns:a="http://schemas.openxmlformats.org/drawingml/2006/main">
            <a:r>
              <a:t>- Local: runs/ser_feature_cache/msp_podcast_base_final_v1/cache_meta.json</a:t>
            </a:r>
            <a:endParaRPr/>
          </a:p>
          <a:p xmlns:a="http://schemas.openxmlformats.org/drawingml/2006/main">
            <a:r>
              <a:t>- Local: runs/ser_feature_cache/hcudb1_base_final_v1/cache_meta.json</a:t>
            </a:r>
            <a:endParaRPr/>
          </a:p>
          <a:p xmlns:a="http://schemas.openxmlformats.org/drawingml/2006/main">
            <a:r>
              <a:t>- Source deck: slide 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このスライドでは目的だけを示す。英語性能を維持できたかどうかは結果スライドまで断定しない。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docs/reports/2026-09-03-saved-results-review/report.md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条件Aを今回の正式実験として強調。Large encoderと公式head条件は未実施。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runs/ser_feature_cache/msp_podcast_base_final_v1/cache_meta.json</a:t>
            </a:r>
            <a:endParaRPr/>
          </a:p>
          <a:p xmlns:a="http://schemas.openxmlformats.org/drawingml/2006/main">
            <a:r>
              <a:t>- Local: runs/ser_feature_cache/hcudb1_base_final_v1/cache_meta.json</a:t>
            </a:r>
            <a:endParaRPr/>
          </a:p>
          <a:p xmlns:a="http://schemas.openxmlformats.org/drawingml/2006/main">
            <a:r>
              <a:t>- Local: runs/ser_decoder_study/formal/initial-seed-42/study_summary.json</a:t>
            </a:r>
            <a:endParaRPr/>
          </a:p>
          <a:p xmlns:a="http://schemas.openxmlformats.org/drawingml/2006/main">
            <a:r>
              <a:t>- Local: runs/ser_decoder_study/formal/followup-seeds-43-44/study_summary.json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MSPの対象25,985件から欠損1,128件を除外して24,857件、さらに重複41件を固定除外して24,816件。完全な公式Test1ではない。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runs/ser_manifests/msp_podcast_4class_v1.jsonl</a:t>
            </a:r>
            <a:endParaRPr/>
          </a:p>
          <a:p xmlns:a="http://schemas.openxmlformats.org/drawingml/2006/main">
            <a:r>
              <a:t>- Local: runs/ser_manifests/hcudb1_4class_v1.jsonl</a:t>
            </a:r>
            <a:endParaRPr/>
          </a:p>
          <a:p xmlns:a="http://schemas.openxmlformats.org/drawingml/2006/main">
            <a:r>
              <a:t>- Local: runs/ser_feature_cache/msp_podcast_base_final_v1/cache_meta.json</a:t>
            </a:r>
            <a:endParaRPr/>
          </a:p>
          <a:p xmlns:a="http://schemas.openxmlformats.org/drawingml/2006/main">
            <a:r>
              <a:t>- Local: runs/ser_feature_cache/hcudb1_base_final_v1/cache_meta.json</a:t>
            </a:r>
            <a:endParaRPr/>
          </a:p>
          <a:p xmlns:a="http://schemas.openxmlformats.org/drawingml/2006/main">
            <a:r>
              <a:t>- Local: runs/ser_manifests/msp_missing_audio_exclusions_v1.json</a:t>
            </a:r>
            <a:endParaRPr/>
          </a:p>
          <a:p xmlns:a="http://schemas.openxmlformats.org/drawingml/2006/main">
            <a:r>
              <a:t>- Local: runs/ser_manifests/msp_audio_duplicate_exclusions_v1.json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UARを優先してbest checkpointを選択し、testはモデル選択に使用していない。UARに加えてmacro F1とaccuracyも併記する。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runs/ser_decoder_study/formal/initial-seed-42/study_summary.json</a:t>
            </a:r>
            <a:endParaRPr/>
          </a:p>
          <a:p xmlns:a="http://schemas.openxmlformats.org/drawingml/2006/main">
            <a:r>
              <a:t>- Local: runs/ser_decoder_study/formal/followup-seeds-43-44/study_summary.json</a:t>
            </a:r>
            <a:endParaRPr/>
          </a:p>
          <a:p xmlns:a="http://schemas.openxmlformats.org/drawingml/2006/main">
            <a:r>
              <a:t>- Local: docs/reports/2026-09-03-saved-results-review/report.md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最新の学習モニタリング改修は未コミット。現行報告では全160テスト成功。</a:t>
            </a:r>
            <a:endParaRPr/>
          </a:p>
          <a:p xmlns:a="http://schemas.openxmlformats.org/drawingml/2006/main">
            <a:r>
              <a:t>本更新環境ではpytestが利用できず、160件成功はユーザー指定の現況値として記載した。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docs/reports/2026-09-03-saved-results-review/report.md</a:t>
            </a:r>
            <a:endParaRPr/>
          </a:p>
          <a:p xmlns:a="http://schemas.openxmlformats.org/drawingml/2006/main">
            <a:r>
              <a:t>- Local: runs/ser_feature_cache/msp_podcast_base_final_v1/cache_meta.json</a:t>
            </a:r>
            <a:endParaRPr/>
          </a:p>
          <a:p xmlns:a="http://schemas.openxmlformats.org/drawingml/2006/main">
            <a:r>
              <a:t>- Local: runs/ser_feature_cache/hcudb1_base_final_v1/cache_meta.json</a:t>
            </a:r>
            <a:endParaRPr/>
          </a:p>
          <a:p xmlns:a="http://schemas.openxmlformats.org/drawingml/2006/main">
            <a:r>
              <a:t>- Local: runs/ser_decoder_study/formal/initial-seed-42/study_summary.json</a:t>
            </a:r>
            <a:endParaRPr/>
          </a:p>
          <a:p xmlns:a="http://schemas.openxmlformats.org/drawingml/2006/main">
            <a:r>
              <a:t>- Local: runs/ser_decoder_study/formal/followup-seeds-43-44/study_summary.json</a:t>
            </a:r>
            <a:endParaRPr/>
          </a:p>
          <a:p xmlns:a="http://schemas.openxmlformats.org/drawingml/2006/main">
            <a:r>
              <a:t>- Local: runs/msp_class_weight_score_loss_20260904/seeds-42/comparison_summary.json</a:t>
            </a:r>
            <a:endParaRPr/>
          </a:p>
          <a:p xmlns:a="http://schemas.openxmlformats.org/drawingml/2006/main">
            <a:r>
              <a:t>- Local: runs/msp_class_weight_comparison/seeds-43-44/comparison_summary.json</a:t>
            </a:r>
            <a:endParaRPr/>
          </a:p>
          <a:p xmlns:a="http://schemas.openxmlformats.org/drawingml/2006/main">
            <a:r>
              <a:t>- Working tree: git status --short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重みなしMSP親モデルの3 seed平均。HCUDB testは全指標で改善したが、MSP testは全指標で低下し、英語性能維持を支持しない。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docs/reports/2026-09-03-saved-results-review/report.md, section 5</a:t>
            </a:r>
          </a:p>
          <a:p xmlns:a="http://schemas.openxmlformats.org/drawingml/2006/main">
            <a:r>
              <a:t>- Local: docs/reports/2026-09-03-saved-results-review/aggregate_metrics.json</a:t>
            </a:r>
          </a:p>
          <a:p xmlns:a="http://schemas.openxmlformats.org/drawingml/2006/main">
            <a:r>
              <a:t>- Local: runs/ser_decoder_study/formal/initial-seed-42/study_summary.json</a:t>
            </a:r>
          </a:p>
          <a:p xmlns:a="http://schemas.openxmlformats.org/drawingml/2006/main">
            <a:r>
              <a:t>- Local: runs/ser_decoder_study/formal/followup-seeds-43-44/study_summary.json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balanced class weightはvalidation UARを改善したが、macro F1は平均でほぼ不変、accuracyは低下した。weightedモデルのtestは未評価。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docs/reports/2026-09-03-saved-results-review/report.md, section 2</a:t>
            </a:r>
            <a:endParaRPr/>
          </a:p>
          <a:p xmlns:a="http://schemas.openxmlformats.org/drawingml/2006/main">
            <a:r>
              <a:t>- Local: docs/reports/2026-09-03-saved-results-review/aggregate_metrics.json</a:t>
            </a:r>
            <a:endParaRPr/>
          </a:p>
          <a:p xmlns:a="http://schemas.openxmlformats.org/drawingml/2006/main">
            <a:r>
              <a:t>- Local: runs/msp_class_weight_score_loss_20260904/seeds-42/comparison_summary.json</a:t>
            </a:r>
            <a:endParaRPr/>
          </a:p>
          <a:p xmlns:a="http://schemas.openxmlformats.org/drawingml/2006/main">
            <a:r>
              <a:t>- Local: runs/msp_class_weight_comparison/seeds-43-44/comparison_summary.json</a:t>
            </a:r>
            <a:endParaRPr/>
          </a:p>
          <a:p xmlns:a="http://schemas.openxmlformats.org/drawingml/2006/main">
            <a:r>
              <a:t>- https://scikit-learn.org/dev/modules/generated/sklearn.utils.class_weight.compute_class_weight.html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今回言えることと、まだ言えないことを分離する。次の優先事項はweighted MSPモデルのtest評価。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docs/reports/2026-09-03-saved-results-review/report.md</a:t>
            </a:r>
            <a:endParaRPr/>
          </a:p>
          <a:p xmlns:a="http://schemas.openxmlformats.org/drawingml/2006/main">
            <a:r>
              <a:t>- Local: docs/reports/2026-09-03-saved-results-review/aggregate_metrics.json</a:t>
            </a:r>
            <a:endParaRPr/>
          </a:p>
          <a:p xmlns:a="http://schemas.openxmlformats.org/drawingml/2006/main">
            <a:r>
              <a:t>- Working tree: git status --short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35725cd8c4c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7967edd974e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86d76e6924c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4f35ef12648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0e67a47b84d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ceac3ed2f46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bca474aae40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53e98f19c44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89c4c916c40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ee38fda2740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3eacec5164c2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11FB67-6F20-4F01-9AFB-270B24A9D7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35A8EF-5140-45DA-8CE9-AAF35D22D5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10C709-BAE8-4FEA-85A2-4C3F7FFDC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78FF8F-2CCE-4DAB-9258-C9410BCB1A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84566-A9D5-4D70-B2D8-ADAEF1D1D7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B9C734-88AC-42F3-B9E7-46AE9429D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E3DDD7-797E-49D9-B43B-E833E0BEEE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C6C802-06AE-4749-81F8-4F8CD13D04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51815F-251F-4FA0-A5AF-6429E6D87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911D84-7CAE-4A2A-9AFA-A975801F90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D92F77-0D83-4464-B725-C5D4B49E4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326E41-671D-400B-B336-62246C53CA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2460DF-2DDE-43D2-B877-6D696B66C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D25A72-D597-46BC-A40C-C3F4393A2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17A4C0-C6A6-4E2C-A685-256C854F0F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3AFDD1-138D-459C-8445-91E7A4CE6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1219CE-5D35-4627-B162-25C9FD4471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A98A7BB-E11B-4104-8913-026DF2C7DE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515D36F-59CC-40B3-80CE-80CAC9A5EA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7AFC6A1-2E2E-4148-A3B0-E8683605AA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54DE21-D903-4439-9769-27B6375C1B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9A3EC2-0B54-4CBB-8C34-A74742AD0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9BD4E-DB1C-4A2C-A84B-84B20A821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148368-665F-4840-945C-414D6098B9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ADA87CE-0A65-4BD7-8B13-D23E0DBCA62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CC846DA-6AE2-4DEC-BBB9-92306C20D9C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ABB70E0-A86F-49BD-B74B-4825227FF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B6D696-148B-4EBE-AD22-0091326939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9D47B33-D625-4435-8C3D-43DB229A35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728E72-6DF1-44C6-AC7F-7A4424C85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65FD06A-067F-4B4D-B454-BF036050F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238998C-AC38-4CF3-8551-A04237074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3417D97-1809-498D-9E57-3BE4CC6B7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D23C371-96B7-42D5-A6DA-57A68FF55F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D2EFDD0-70A4-4B0D-A3D1-AE851B6706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A1F140-F2AE-4B37-9F37-8768AF1CAE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EE4E17-1810-4376-A9CB-85F406EE2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76EDB2-BAAA-4D04-9707-516DE4EE59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14195A-8E0B-48E6-958C-1C21610921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715F1F-67CD-41DD-BE51-57606D8A78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24EE98-8D23-4EC3-B4D6-59ABC259DA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B21186-854A-4CB1-A721-2AD972EA1B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DC5DE-8B07-48D3-BB7C-A3D6A0E605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F11A17-EABC-4E47-B595-496AFB76173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1A4C7AB-601F-4F7E-9697-F616A3D7E6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0D88753-D389-40C1-8566-151B16BC29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B81BDE-A9AF-4A39-A0D9-C1862A4A2B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3A2357-6014-40A7-80EE-7D702A216E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6A76B9-4ED1-4442-B267-D2974D9D8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3A324C-CAF2-4306-8B2D-7A7F1D4193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DAB3F2-2EFE-4AFA-8F31-D8AC4FF05E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4235B1-44CF-40ED-86BA-D33417987C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47CFFB-1981-41C8-B728-25DADECCF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9C80C30-8E93-4EF2-BB50-B3710E7C1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0D1C54-D8A4-4A6E-A064-D40B6D0F26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6B122D-407E-41C2-B9E9-2D3BC60E6A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4BFB84-3526-4DEF-93D7-DAD1D469F3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F623C2-38E2-442F-B1BF-6555C642F7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206c2ed3547c6" /><Relationship Type="http://schemas.openxmlformats.org/officeDocument/2006/relationships/slideLayout" Target="/ppt/slideLayouts/slideLayout1.xml" Id="Rbe2a82c2b321482f" /><Relationship Type="http://schemas.openxmlformats.org/officeDocument/2006/relationships/slideLayout" Target="/ppt/slideLayouts/slideLayout2.xml" Id="R686bc6b3286445a5" /><Relationship Type="http://schemas.openxmlformats.org/officeDocument/2006/relationships/slideLayout" Target="/ppt/slideLayouts/slideLayout3.xml" Id="R49bb6da0e2b84c16" /><Relationship Type="http://schemas.openxmlformats.org/officeDocument/2006/relationships/slideLayout" Target="/ppt/slideLayouts/slideLayout4.xml" Id="R859e8886e16a4343" /><Relationship Type="http://schemas.openxmlformats.org/officeDocument/2006/relationships/slideLayout" Target="/ppt/slideLayouts/slideLayout5.xml" Id="R79151b865b6c4d17" /><Relationship Type="http://schemas.openxmlformats.org/officeDocument/2006/relationships/slideLayout" Target="/ppt/slideLayouts/slideLayout6.xml" Id="Rfc7512e1fcc74743" /><Relationship Type="http://schemas.openxmlformats.org/officeDocument/2006/relationships/slideLayout" Target="/ppt/slideLayouts/slideLayout7.xml" Id="R76d5d3bb75aa4135" /><Relationship Type="http://schemas.openxmlformats.org/officeDocument/2006/relationships/slideLayout" Target="/ppt/slideLayouts/slideLayout8.xml" Id="Rd9861e263bfb4518" /><Relationship Type="http://schemas.openxmlformats.org/officeDocument/2006/relationships/slideLayout" Target="/ppt/slideLayouts/slideLayout9.xml" Id="Rb123feaef7f24f5c" /><Relationship Type="http://schemas.openxmlformats.org/officeDocument/2006/relationships/slideLayout" Target="/ppt/slideLayouts/slideLayout10.xml" Id="R3107c0faa8b44966" /><Relationship Type="http://schemas.openxmlformats.org/officeDocument/2006/relationships/slideLayout" Target="/ppt/slideLayouts/slideLayout11.xml" Id="R6bd2ae16413540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F9DD9E4-2CFE-4C04-8171-D9EFEF3E5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0C4ECE-7BC5-4268-B887-22B5B73E3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56F061-853E-4BC7-8BB0-9F532F72DC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2026/9/5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CD3F47-21E0-43A2-98DC-EEAAA2C5AB6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1EEFA2-5694-4400-A2AC-6F50D08E0D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a82c2b321482f"/>
    <p:sldLayoutId xmlns:r="http://schemas.openxmlformats.org/officeDocument/2006/relationships" id="2147483650" r:id="R686bc6b3286445a5"/>
    <p:sldLayoutId xmlns:r="http://schemas.openxmlformats.org/officeDocument/2006/relationships" id="2147483651" r:id="R49bb6da0e2b84c16"/>
    <p:sldLayoutId xmlns:r="http://schemas.openxmlformats.org/officeDocument/2006/relationships" id="2147483652" r:id="R859e8886e16a4343"/>
    <p:sldLayoutId xmlns:r="http://schemas.openxmlformats.org/officeDocument/2006/relationships" id="2147483653" r:id="R79151b865b6c4d17"/>
    <p:sldLayoutId xmlns:r="http://schemas.openxmlformats.org/officeDocument/2006/relationships" id="2147483654" r:id="Rfc7512e1fcc74743"/>
    <p:sldLayoutId xmlns:r="http://schemas.openxmlformats.org/officeDocument/2006/relationships" id="2147483655" r:id="R76d5d3bb75aa4135"/>
    <p:sldLayoutId xmlns:r="http://schemas.openxmlformats.org/officeDocument/2006/relationships" id="2147483656" r:id="Rd9861e263bfb4518"/>
    <p:sldLayoutId xmlns:r="http://schemas.openxmlformats.org/officeDocument/2006/relationships" id="2147483657" r:id="Rb123feaef7f24f5c"/>
    <p:sldLayoutId xmlns:r="http://schemas.openxmlformats.org/officeDocument/2006/relationships" id="2147483658" r:id="R3107c0faa8b44966"/>
    <p:sldLayoutId xmlns:r="http://schemas.openxmlformats.org/officeDocument/2006/relationships" id="2147483659" r:id="R6bd2ae164135409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4ee0e4b14f45bd" /><Relationship Type="http://schemas.openxmlformats.org/officeDocument/2006/relationships/notesSlide" Target="/ppt/notesSlides/notesSlide1.xml" Id="R1eb910bcc3f4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f370e6eadb4bde" /><Relationship Type="http://schemas.openxmlformats.org/officeDocument/2006/relationships/notesSlide" Target="/ppt/notesSlides/notesSlide2.xml" Id="Redabd7ba9a16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aaf287321f47d5" /><Relationship Type="http://schemas.openxmlformats.org/officeDocument/2006/relationships/notesSlide" Target="/ppt/notesSlides/notesSlide3.xml" Id="R238101d7f2ec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c41643ce2f4504" /><Relationship Type="http://schemas.openxmlformats.org/officeDocument/2006/relationships/notesSlide" Target="/ppt/notesSlides/notesSlide4.xml" Id="R0b79cadb66e0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3fa5902d1e49a7" /><Relationship Type="http://schemas.openxmlformats.org/officeDocument/2006/relationships/notesSlide" Target="/ppt/notesSlides/notesSlide5.xml" Id="R57caa0b1bdf1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2d31aee36e45cb" /><Relationship Type="http://schemas.openxmlformats.org/officeDocument/2006/relationships/notesSlide" Target="/ppt/notesSlides/notesSlide6.xml" Id="R863744df64ad46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415b7dbf1d4e91" /><Relationship Type="http://schemas.openxmlformats.org/officeDocument/2006/relationships/notesSlide" Target="/ppt/notesSlides/notesSlide7.xml" Id="R2d8cafba2dfb4d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35d32b251340f8" /><Relationship Type="http://schemas.openxmlformats.org/officeDocument/2006/relationships/notesSlide" Target="/ppt/notesSlides/notesSlide8.xml" Id="R6289b47ea44d4c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9b82dd26614ddd" /><Relationship Type="http://schemas.openxmlformats.org/officeDocument/2006/relationships/chart" Target="/ppt/slides/charts/chart1.xml" Id="R529f1580f3734f74" /><Relationship Type="http://schemas.openxmlformats.org/officeDocument/2006/relationships/notesSlide" Target="/ppt/notesSlides/notesSlide9.xml" Id="R7aa0a2febc8c4f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4fb67a0cfb481d" /><Relationship Type="http://schemas.openxmlformats.org/officeDocument/2006/relationships/chart" Target="/ppt/slides/charts/chart2.xml" Id="Rf4460341a7244b78" /><Relationship Type="http://schemas.openxmlformats.org/officeDocument/2006/relationships/notesSlide" Target="/ppt/notesSlides/notesSlide10.xml" Id="R5d3fc87749bb42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a2ed0d8cb84a5f" /><Relationship Type="http://schemas.openxmlformats.org/officeDocument/2006/relationships/notesSlide" Target="/ppt/notesSlides/notesSlide11.xml" Id="Rca867d97be1a4e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追加学習前</c:v>
          </c:tx>
          <c:spPr>
            <a:solidFill xmlns:a="http://schemas.openxmlformats.org/drawingml/2006/main">
              <a:srgbClr val="9FB7D0"/>
            </a:solidFill>
          </c:spPr>
          <c:cat>
            <c:strRef>
              <c:f>'Chart Data'!$A$2:$A$7</c:f>
              <c:strCache>
                <c:ptCount val="6"/>
                <c:pt idx="0">
                  <c:v>MSP UAR</c:v>
                </c:pt>
                <c:pt idx="1">
                  <c:v>MSP macro F1</c:v>
                </c:pt>
                <c:pt idx="2">
                  <c:v>MSP accuracy</c:v>
                </c:pt>
                <c:pt idx="3">
                  <c:v>HCUDB UAR</c:v>
                </c:pt>
                <c:pt idx="4">
                  <c:v>HCUDB macro F1</c:v>
                </c:pt>
                <c:pt idx="5">
                  <c:v>HCUDB accuracy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51.02</c:v>
                </c:pt>
                <c:pt idx="1">
                  <c:v>48.81</c:v>
                </c:pt>
                <c:pt idx="2">
                  <c:v>64.09</c:v>
                </c:pt>
                <c:pt idx="3">
                  <c:v>26.32</c:v>
                </c:pt>
                <c:pt idx="4">
                  <c:v>21.99</c:v>
                </c:pt>
                <c:pt idx="5">
                  <c:v>32.78</c:v>
                </c:pt>
              </c:numCache>
            </c:numRef>
          </c:val>
        </c:ser>
        <c:ser>
          <c:idx val="1"/>
          <c:order val="1"/>
          <c:tx>
            <c:v>追加学習後</c:v>
          </c:tx>
          <c:spPr>
            <a:solidFill xmlns:a="http://schemas.openxmlformats.org/drawingml/2006/main">
              <a:srgbClr val="1F497D"/>
            </a:solidFill>
          </c:spPr>
          <c:cat>
            <c:strRef>
              <c:f>'Chart Data'!$C$2:$C$7</c:f>
              <c:strCache>
                <c:ptCount val="6"/>
                <c:pt idx="0">
                  <c:v>MSP UAR</c:v>
                </c:pt>
                <c:pt idx="1">
                  <c:v>MSP macro F1</c:v>
                </c:pt>
                <c:pt idx="2">
                  <c:v>MSP accuracy</c:v>
                </c:pt>
                <c:pt idx="3">
                  <c:v>HCUDB UAR</c:v>
                </c:pt>
                <c:pt idx="4">
                  <c:v>HCUDB macro F1</c:v>
                </c:pt>
                <c:pt idx="5">
                  <c:v>HCUDB accuracy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47.7</c:v>
                </c:pt>
                <c:pt idx="1">
                  <c:v>39.96</c:v>
                </c:pt>
                <c:pt idx="2">
                  <c:v>45.83</c:v>
                </c:pt>
                <c:pt idx="3">
                  <c:v>50.9</c:v>
                </c:pt>
                <c:pt idx="4">
                  <c:v>50.56</c:v>
                </c:pt>
                <c:pt idx="5">
                  <c:v>55.33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333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B6777"/>
                    </a:solidFill>
                    <a:latin typeface="Yu Gothic"/>
                    <a:ea typeface="Yu Gothic"/>
                    <a:cs typeface="Yu Gothic"/>
                  </a:rPr>
                  <a:t>3 seed平均（%）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B6777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333333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重みなし</c:v>
          </c:tx>
          <c:spPr>
            <a:solidFill xmlns:a="http://schemas.openxmlformats.org/drawingml/2006/main">
              <a:srgbClr val="9FB7D0"/>
            </a:solidFill>
          </c:spPr>
          <c:cat>
            <c:strRef>
              <c:f>'Chart Data'!$A$2:$A$4</c:f>
              <c:strCache>
                <c:ptCount val="3"/>
                <c:pt idx="0">
                  <c:v>UAR</c:v>
                </c:pt>
                <c:pt idx="1">
                  <c:v>macro F1</c:v>
                </c:pt>
                <c:pt idx="2">
                  <c:v>accuracy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53.13</c:v>
                </c:pt>
                <c:pt idx="1">
                  <c:v>50.69</c:v>
                </c:pt>
                <c:pt idx="2">
                  <c:v>59.78</c:v>
                </c:pt>
              </c:numCache>
            </c:numRef>
          </c:val>
        </c:ser>
        <c:ser>
          <c:idx val="1"/>
          <c:order val="1"/>
          <c:tx>
            <c:v>balanced</c:v>
          </c:tx>
          <c:spPr>
            <a:solidFill xmlns:a="http://schemas.openxmlformats.org/drawingml/2006/main">
              <a:srgbClr val="1F497D"/>
            </a:solidFill>
          </c:spPr>
          <c:cat>
            <c:strRef>
              <c:f>'Chart Data'!$C$2:$C$4</c:f>
              <c:strCache>
                <c:ptCount val="3"/>
                <c:pt idx="0">
                  <c:v>UAR</c:v>
                </c:pt>
                <c:pt idx="1">
                  <c:v>macro F1</c:v>
                </c:pt>
                <c:pt idx="2">
                  <c:v>accuracy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56.25</c:v>
                </c:pt>
                <c:pt idx="1">
                  <c:v>50.69</c:v>
                </c:pt>
                <c:pt idx="2">
                  <c:v>56.46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333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B6777"/>
                    </a:solidFill>
                    <a:latin typeface="Yu Gothic"/>
                    <a:ea typeface="Yu Gothic"/>
                    <a:cs typeface="Yu Gothic"/>
                  </a:rPr>
                  <a:t>validation・3 seed平均（%）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B6777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333333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501BCD-9C4C-48FE-B47B-DD1F425A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33272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2850" b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音声感情認識モデルの追加学習による日本語適用と精度評価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336625-3A05-4CED-B6D0-55B93523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033272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0" tIns="19050" rIns="952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23RD004 秋山 叶太</a:t>
            </a:r>
            <a:endParaRPr sz="1800">
              <a:solidFill>
                <a:srgbClr val="333333"/>
              </a:solidFill>
            </a:endParaRPr>
          </a:p>
          <a:p xmlns:a="http://schemas.openxmlformats.org/drawingml/2006/main">
            <a:pPr algn="ctr">
              <a:buNone/>
              <a:defRPr sz="180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日付：2026年9月7日</a:t>
            </a:r>
          </a:p>
        </p:txBody>
      </p:sp>
    </p:spTree>
    <p:extLst>
      <p:ext uri="{BB962C8B-B14F-4D97-AF65-F5344CB8AC3E}">
        <p14:creationId xmlns:p14="http://schemas.microsoft.com/office/powerpoint/2010/main" val="547443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1D56C5-7CF5-45DB-8368-4A97749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1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84BDE7-37B6-4DAD-9B60-C7658F6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日本語適応では、英語性能維持も同時に確認する必要がある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BF2E755-ECD2-428F-B3AC-596DF9B7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782300" cy="368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14300" tIns="76200" rIns="1714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52400">
              <a:lnSpc>
                <a:spcPct val="112000"/>
              </a:lnSpc>
              <a:spcAft>
                <a:spcPts val="900"/>
              </a:spcAft>
              <a:buNone/>
              <a:defRPr sz="2025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音声感情認識（SER）</a:t>
            </a:r>
            <a:r>
              <a:rPr sz="2025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：音声から感情カテゴリを推定する</a:t>
            </a:r>
          </a:p>
          <a:p xmlns:a="http://schemas.openxmlformats.org/drawingml/2006/main">
            <a:pPr marL="279400" indent="-152400">
              <a:lnSpc>
                <a:spcPct val="112000"/>
              </a:lnSpc>
              <a:spcAft>
                <a:spcPts val="900"/>
              </a:spcAft>
              <a:buNone/>
              <a:defRPr sz="2025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emotion2vec</a:t>
            </a:r>
            <a:r>
              <a:rPr sz="2025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：自己教師あり事前学習で音声の感情表現を得る</a:t>
            </a:r>
          </a:p>
          <a:p xmlns:a="http://schemas.openxmlformats.org/drawingml/2006/main">
            <a:pPr marL="279400" indent="-152400">
              <a:lnSpc>
                <a:spcPct val="112000"/>
              </a:lnSpc>
              <a:spcAft>
                <a:spcPts val="900"/>
              </a:spcAft>
              <a:buNone/>
              <a:defRPr sz="2025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本研究の評価軸</a:t>
            </a:r>
            <a:r>
              <a:rPr sz="2025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：HCUDBでの日本語改善と、MSP-Podcastでの英語性能変化を同じ実験で確認する</a:t>
            </a:r>
          </a:p>
        </p:txBody>
      </p:sp>
      <p:sp>
        <p:nvSpPr>
          <p:cNvPr id="5" name="Evaluation emphasis">
            <a:extLst xmlns:a="http://schemas.openxmlformats.org/drawingml/2006/main">
              <a:ext uri="{FF2B5EF4-FFF2-40B4-BE49-F238E27FC236}">
                <a16:creationId xmlns:a16="http://schemas.microsoft.com/office/drawing/2014/main" id="{1C8B0DB8-6E2E-4974-A2D9-8287DE6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86375"/>
            <a:ext cx="9067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9FB7D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日本語の改善だけでは研究目的を判定できない</a:t>
            </a:r>
          </a:p>
        </p:txBody>
      </p:sp>
    </p:spTree>
    <p:extLst>
      <p:ext uri="{BB962C8B-B14F-4D97-AF65-F5344CB8AC3E}">
        <p14:creationId xmlns:p14="http://schemas.microsoft.com/office/powerpoint/2010/main" val="1996263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F26415-E84B-457C-A2A7-D3450166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2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2B89AC6-616B-4354-A212-DB328CF2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emotion2vecの表現を固定し、下流分類器だけを学習する</a:t>
            </a:r>
          </a:p>
        </p:txBody>
      </p:sp>
      <p:sp>
        <p:nvSpPr>
          <p:cNvPr id="4" name="Frozen encoder">
            <a:extLst xmlns:a="http://schemas.openxmlformats.org/drawingml/2006/main">
              <a:ext uri="{FF2B5EF4-FFF2-40B4-BE49-F238E27FC236}">
                <a16:creationId xmlns:a16="http://schemas.microsoft.com/office/drawing/2014/main" id="{3D92E0F8-AE75-4833-9E54-DDF7AF48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emotion2vec Base</a:t>
            </a:r>
          </a:p>
          <a:p xmlns:a="http://schemas.openxmlformats.org/drawingml/2006/main">
            <a:pPr algn="ctr">
              <a:defRPr sz="1800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encoderを固定</a:t>
            </a:r>
          </a:p>
        </p:txBody>
      </p:sp>
      <p:sp>
        <p:nvSpPr>
          <p:cNvPr id="5" name="Encoder to feature">
            <a:extLst xmlns:a="http://schemas.openxmlformats.org/drawingml/2006/main">
              <a:ext uri="{FF2B5EF4-FFF2-40B4-BE49-F238E27FC236}">
                <a16:creationId xmlns:a16="http://schemas.microsoft.com/office/drawing/2014/main" id="{49D73584-4604-444B-AFD4-0AF83C63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717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6" name="Feature vector">
            <a:extLst xmlns:a="http://schemas.openxmlformats.org/drawingml/2006/main">
              <a:ext uri="{FF2B5EF4-FFF2-40B4-BE49-F238E27FC236}">
                <a16:creationId xmlns:a16="http://schemas.microsoft.com/office/drawing/2014/main" id="{5DCA1D08-0CAF-42D6-BD44-4E8B95B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DCE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発話ごとの特徴</a:t>
            </a:r>
          </a:p>
          <a:p xmlns:a="http://schemas.openxmlformats.org/drawingml/2006/main">
            <a:pPr algn="ctr">
              <a:defRPr sz="1800" b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768次元</a:t>
            </a:r>
          </a:p>
        </p:txBody>
      </p:sp>
      <p:sp>
        <p:nvSpPr>
          <p:cNvPr id="7" name="Feature to decoder">
            <a:extLst xmlns:a="http://schemas.openxmlformats.org/drawingml/2006/main">
              <a:ext uri="{FF2B5EF4-FFF2-40B4-BE49-F238E27FC236}">
                <a16:creationId xmlns:a16="http://schemas.microsoft.com/office/drawing/2014/main" id="{25AB13E9-0EAD-4B00-9A82-57B3D83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717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8" name="Trainable decoder">
            <a:extLst xmlns:a="http://schemas.openxmlformats.org/drawingml/2006/main">
              <a:ext uri="{FF2B5EF4-FFF2-40B4-BE49-F238E27FC236}">
                <a16:creationId xmlns:a16="http://schemas.microsoft.com/office/drawing/2014/main" id="{AB3D6226-5249-446F-B9FC-F4BB1041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A"/>
          </a:solidFill>
          <a:ln xmlns:a="http://schemas.openxmlformats.org/drawingml/2006/main" w="14288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下流分類器</a:t>
            </a:r>
          </a:p>
          <a:p xmlns:a="http://schemas.openxmlformats.org/drawingml/2006/main">
            <a:pPr algn="ctr">
              <a:defRPr sz="1800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4感情を分類</a:t>
            </a:r>
          </a:p>
        </p:txBody>
      </p:sp>
      <p:sp>
        <p:nvSpPr>
          <p:cNvPr id="9" name="Prior work context">
            <a:extLst xmlns:a="http://schemas.openxmlformats.org/drawingml/2006/main">
              <a:ext uri="{FF2B5EF4-FFF2-40B4-BE49-F238E27FC236}">
                <a16:creationId xmlns:a16="http://schemas.microsoft.com/office/drawing/2014/main" id="{B35E3C2C-07CD-4C8F-BC33-BF8436F4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477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52400">
              <a:lnSpc>
                <a:spcPct val="105000"/>
              </a:lnSpc>
              <a:spcAft>
                <a:spcPts val="900"/>
              </a:spcAft>
              <a:buNone/>
              <a:defRPr sz="150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emotion2vec</a:t>
            </a:r>
            <a:r>
              <a:rPr sz="150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：Ma et al. (2024), “emotion2vec: Self-Supervised Pre-Training for Speech Emotion Representation”</a:t>
            </a:r>
          </a:p>
          <a:p xmlns:a="http://schemas.openxmlformats.org/drawingml/2006/main">
            <a:pPr marL="279400" indent="-152400">
              <a:lnSpc>
                <a:spcPct val="105000"/>
              </a:lnSpc>
              <a:spcAft>
                <a:spcPts val="900"/>
              </a:spcAft>
              <a:buNone/>
              <a:defRPr sz="150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関連モデル</a:t>
            </a:r>
            <a:r>
              <a:rPr sz="150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：既存資料のwav2vec 2.0系モデル</a:t>
            </a:r>
          </a:p>
          <a:p xmlns:a="http://schemas.openxmlformats.org/drawingml/2006/main">
            <a:pPr marL="279400" indent="-152400">
              <a:lnSpc>
                <a:spcPct val="105000"/>
              </a:lnSpc>
              <a:spcAft>
                <a:spcPts val="900"/>
              </a:spcAft>
              <a:buNone/>
              <a:defRPr sz="150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研究室内の先行構成</a:t>
            </a:r>
            <a:r>
              <a:rPr sz="150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：VAD回帰と感情分類の2段階構成</a:t>
            </a:r>
          </a:p>
        </p:txBody>
      </p:sp>
    </p:spTree>
    <p:extLst>
      <p:ext uri="{BB962C8B-B14F-4D97-AF65-F5344CB8AC3E}">
        <p14:creationId xmlns:p14="http://schemas.microsoft.com/office/powerpoint/2010/main" val="1174372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8FA8D5E-25EE-4DCA-9561-67B2411C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3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B865757-36A5-4E3A-ACDD-6D4D5DB8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本研究はHCUDBの改善とMSP-Podcastの性能維持を同時に検証する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5BC973B-4FF5-4614-9633-2818D1B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1823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2175" b="1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固定したemotion2vec encoderの特徴を用い、MSP-Podcast学習後にHCUDBで追加学習して、両test集合の変化を測る</a:t>
            </a:r>
          </a:p>
        </p:txBody>
      </p:sp>
      <p:sp>
        <p:nvSpPr>
          <p:cNvPr id="5" name="Japanese goal">
            <a:extLst xmlns:a="http://schemas.openxmlformats.org/drawingml/2006/main">
              <a:ext uri="{FF2B5EF4-FFF2-40B4-BE49-F238E27FC236}">
                <a16:creationId xmlns:a16="http://schemas.microsoft.com/office/drawing/2014/main" id="{BEAC2C39-0C8C-42CD-9160-79A4E27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3714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A"/>
          </a:solidFill>
          <a:ln xmlns:a="http://schemas.openxmlformats.org/drawingml/2006/main" w="14288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日本語</a:t>
            </a:r>
          </a:p>
          <a:p xmlns:a="http://schemas.openxmlformats.org/drawingml/2006/main">
            <a:pPr algn="ctr">
              <a:defRPr sz="1875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HCUDB testの改善を確認</a:t>
            </a:r>
          </a:p>
        </p:txBody>
      </p:sp>
      <p:sp>
        <p:nvSpPr>
          <p:cNvPr id="6" name="English goal">
            <a:extLst xmlns:a="http://schemas.openxmlformats.org/drawingml/2006/main">
              <a:ext uri="{FF2B5EF4-FFF2-40B4-BE49-F238E27FC236}">
                <a16:creationId xmlns:a16="http://schemas.microsoft.com/office/drawing/2014/main" id="{18E04F39-937E-445F-8CB4-F220AA16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3714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英語</a:t>
            </a:r>
          </a:p>
          <a:p xmlns:a="http://schemas.openxmlformats.org/drawingml/2006/main">
            <a:pPr algn="ctr">
              <a:defRPr sz="18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MSP-Podcast testの変化を確認</a:t>
            </a:r>
          </a:p>
        </p:txBody>
      </p:sp>
    </p:spTree>
    <p:extLst>
      <p:ext uri="{BB962C8B-B14F-4D97-AF65-F5344CB8AC3E}">
        <p14:creationId xmlns:p14="http://schemas.microsoft.com/office/powerpoint/2010/main" val="465413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2BC3B4D-8AA5-4969-9C58-8D869D0F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4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F678B57-D6D9-4836-AC01-C063868B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今回の正式実験はBase encoderと4クラスdecoderに固定した</a:t>
            </a:r>
            <a:endParaRPr sz="2400" b="1">
              <a:solidFill>
                <a:srgbClr val="FFFFFF"/>
              </a:solidFill>
            </a:endParaRPr>
          </a:p>
        </p:txBody>
      </p:sp>
      <p:graphicFrame>
        <p:nvGraphicFramePr>
          <p:cNvPr id="7" name="表 4"/>
          <p:cNvGraphicFramePr/>
          <p:nvPr/>
        </p:nvGraphicFramePr>
        <p:xfrm>
          <a:off xmlns:a="http://schemas.openxmlformats.org/drawingml/2006/main" x="470852" y="1600200"/>
          <a:ext xmlns:a="http://schemas.openxmlformats.org/drawingml/2006/main" cx="10816580" cy="4800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750"/>
                <a:gridCol w="2619375"/>
                <a:gridCol w="3286125"/>
                <a:gridCol w="3476625"/>
              </a:tblGrid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Encoder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特徴・分類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実施状況</a:t>
                      </a:r>
                      <a:endParaRPr/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A 正式実験</a:t>
                      </a:r>
                    </a:p>
                  </a:txBody>
                  <a:tcPr marL="76200" marR="76200" marT="66675" marB="66675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emotion2vec Base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76200" marR="76200" marT="66675" marB="66675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768次元 → 4クラスdecoder</a:t>
                      </a:r>
                    </a:p>
                  </a:txBody>
                  <a:tcPr marL="76200" marR="76200" marT="66675" marB="66675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MSP学習後にHCUDB追加学習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実施済み</a:t>
                      </a:r>
                    </a:p>
                  </a:txBody>
                  <a:tcPr marL="76200" marR="76200" marT="66675" marB="66675" anchor="ctr">
                    <a:solidFill>
                      <a:srgbClr val="EAF1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B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emotion2vec Large</a:t>
                      </a: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1024次元 → 4クラスdecoder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未実施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emotion2vec Base</a:t>
                      </a:r>
                      <a:endParaRPr/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  <a:endParaRPr/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公式head条件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未実施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D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emotion2vec Large</a:t>
                      </a:r>
                    </a:p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公式head条件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7A8490"/>
                          </a:solidFill>
                          <a:latin typeface="Yu Gothic"/>
                          <a:ea typeface="Yu Gothic"/>
                          <a:cs typeface="Yu Gothic"/>
                        </a:rPr>
                        <a:t>未実施</a:t>
                      </a:r>
                    </a:p>
                  </a:txBody>
                  <a:tcPr marL="76200" marR="76200" marT="66675" marB="66675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315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FB566CE-AB65-46CC-AA10-313D347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5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DD18A7-C7EC-4DE8-AE2C-FC7D8A16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評価対象はMSP 24,816件とHCUDB 2,100件で固定した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62450"/>
                <a:gridCol w="4362450"/>
              </a:tblGrid>
              <a:tr h="620486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MSP-Podcast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HCUDB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評価対象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24,816件</a:t>
                      </a:r>
                    </a:p>
                  </a:txBody>
                  <a:tcPr marL="76200" marR="76200" marT="66675" marB="66675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F50"/>
                          </a:solidFill>
                          <a:latin typeface="Yu Gothic"/>
                          <a:ea typeface="Yu Gothic"/>
                          <a:cs typeface="Yu Gothic"/>
                        </a:rPr>
                        <a:t>2,100件</a:t>
                      </a:r>
                    </a:p>
                  </a:txBody>
                  <a:tcPr marL="76200" marR="76200" marT="66675" marB="66675" anchor="ctr">
                    <a:solidFill>
                      <a:srgbClr val="EAF1F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Train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15,524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1,500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Validation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3,600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300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Test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5,692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300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感情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anger / happy / sadness / disgust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anger / happy / sadness / disgust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分割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公式splitを使用</a:t>
                      </a:r>
                    </a:p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欠損・重複を固定除外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話者重複なしの固定split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ataset caveat">
            <a:extLst xmlns:a="http://schemas.openxmlformats.org/drawingml/2006/main">
              <a:ext uri="{FF2B5EF4-FFF2-40B4-BE49-F238E27FC236}">
                <a16:creationId xmlns:a16="http://schemas.microsoft.com/office/drawing/2014/main" id="{774773F0-E0B9-465D-B723-4AD4ECC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MSPは完全な公式Test1ではない。欠損1,128件と重複41件を固定除外した。</a:t>
            </a:r>
          </a:p>
        </p:txBody>
      </p:sp>
    </p:spTree>
    <p:extLst>
      <p:ext uri="{BB962C8B-B14F-4D97-AF65-F5344CB8AC3E}">
        <p14:creationId xmlns:p14="http://schemas.microsoft.com/office/powerpoint/2010/main" val="1742560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4300EE-6262-4888-91AA-98E60D7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6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F318A1-9B7F-4CBA-8717-D9C47FC3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 seedの追加学習前後を同一test集合で比較した</a:t>
            </a:r>
          </a:p>
        </p:txBody>
      </p:sp>
      <p:sp>
        <p:nvSpPr>
          <p:cNvPr id="4" name="Flow step 1">
            <a:extLst xmlns:a="http://schemas.openxmlformats.org/drawingml/2006/main">
              <a:ext uri="{FF2B5EF4-FFF2-40B4-BE49-F238E27FC236}">
                <a16:creationId xmlns:a16="http://schemas.microsoft.com/office/drawing/2014/main" id="{46C3556B-4F31-4D10-B352-5A548A9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MSP学習</a:t>
            </a:r>
          </a:p>
          <a:p xmlns:a="http://schemas.openxmlformats.org/drawingml/2006/main">
            <a:pPr algn="ctr">
              <a:def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seed 42 / 43 / 44
各10 epoch・CPU</a:t>
            </a:r>
          </a:p>
        </p:txBody>
      </p:sp>
      <p:sp>
        <p:nvSpPr>
          <p:cNvPr id="5" name="Flow number 1">
            <a:extLst xmlns:a="http://schemas.openxmlformats.org/drawingml/2006/main">
              <a:ext uri="{FF2B5EF4-FFF2-40B4-BE49-F238E27FC236}">
                <a16:creationId xmlns:a16="http://schemas.microsoft.com/office/drawing/2014/main" id="{FB2351CF-9101-4997-9C12-B4C4B49F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524000"/>
            <a:ext cx="685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09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Flow arrow 1">
            <a:extLst xmlns:a="http://schemas.openxmlformats.org/drawingml/2006/main">
              <a:ext uri="{FF2B5EF4-FFF2-40B4-BE49-F238E27FC236}">
                <a16:creationId xmlns:a16="http://schemas.microsoft.com/office/drawing/2014/main" id="{9910974A-B927-4B4E-968B-C8A697D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7" name="Flow step 2">
            <a:extLst xmlns:a="http://schemas.openxmlformats.org/drawingml/2006/main">
              <a:ext uri="{FF2B5EF4-FFF2-40B4-BE49-F238E27FC236}">
                <a16:creationId xmlns:a16="http://schemas.microsoft.com/office/drawing/2014/main" id="{6EEC6536-3AD3-4EF5-AD51-E1B4A0E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CE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モデル選択</a:t>
            </a:r>
          </a:p>
          <a:p xmlns:a="http://schemas.openxmlformats.org/drawingml/2006/main">
            <a:pPr algn="ctr">
              <a:defRPr sz="1575" b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validation UARを優先
同点時はmacro F1・loss</a:t>
            </a:r>
          </a:p>
        </p:txBody>
      </p:sp>
      <p:sp>
        <p:nvSpPr>
          <p:cNvPr id="8" name="Flow number 2">
            <a:extLst xmlns:a="http://schemas.openxmlformats.org/drawingml/2006/main">
              <a:ext uri="{FF2B5EF4-FFF2-40B4-BE49-F238E27FC236}">
                <a16:creationId xmlns:a16="http://schemas.microsoft.com/office/drawing/2014/main" id="{E3F8D5AF-587A-46D9-B793-329FD90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24000"/>
            <a:ext cx="685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4DCE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09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Flow arrow 2">
            <a:extLst xmlns:a="http://schemas.openxmlformats.org/drawingml/2006/main">
              <a:ext uri="{FF2B5EF4-FFF2-40B4-BE49-F238E27FC236}">
                <a16:creationId xmlns:a16="http://schemas.microsoft.com/office/drawing/2014/main" id="{2E5EA8CF-1073-4FBC-823C-82063E5B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10" name="Flow step 3">
            <a:extLst xmlns:a="http://schemas.openxmlformats.org/drawingml/2006/main">
              <a:ext uri="{FF2B5EF4-FFF2-40B4-BE49-F238E27FC236}">
                <a16:creationId xmlns:a16="http://schemas.microsoft.com/office/drawing/2014/main" id="{11384207-18DA-4726-80F0-DB91625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A"/>
          </a:solidFill>
          <a:ln xmlns:a="http://schemas.openxmlformats.org/drawingml/2006/main" w="13335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HCUDB追加学習</a:t>
            </a:r>
          </a:p>
          <a:p xmlns:a="http://schemas.openxmlformats.org/drawingml/2006/main">
            <a:pPr algn="ctr">
              <a:defRPr sz="1575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MSPのbest checkpointから
各10 epoch・CPU</a:t>
            </a:r>
          </a:p>
        </p:txBody>
      </p:sp>
      <p:sp>
        <p:nvSpPr>
          <p:cNvPr id="11" name="Flow number 3">
            <a:extLst xmlns:a="http://schemas.openxmlformats.org/drawingml/2006/main">
              <a:ext uri="{FF2B5EF4-FFF2-40B4-BE49-F238E27FC236}">
                <a16:creationId xmlns:a16="http://schemas.microsoft.com/office/drawing/2014/main" id="{36BD4743-D217-4635-A672-4795E607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524000"/>
            <a:ext cx="685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09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Flow arrow 3">
            <a:extLst xmlns:a="http://schemas.openxmlformats.org/drawingml/2006/main">
              <a:ext uri="{FF2B5EF4-FFF2-40B4-BE49-F238E27FC236}">
                <a16:creationId xmlns:a16="http://schemas.microsoft.com/office/drawing/2014/main" id="{7D27518F-5838-484B-B7EB-E5BC3DF9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13" name="Flow step 4">
            <a:extLst xmlns:a="http://schemas.openxmlformats.org/drawingml/2006/main">
              <a:ext uri="{FF2B5EF4-FFF2-40B4-BE49-F238E27FC236}">
                <a16:creationId xmlns:a16="http://schemas.microsoft.com/office/drawing/2014/main" id="{08AA9E86-F249-4166-8E31-1FA9236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526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13335">
            <a:solidFill>
              <a:srgbClr val="D8B36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前後評価</a:t>
            </a:r>
          </a:p>
          <a:p xmlns:a="http://schemas.openxmlformats.org/drawingml/2006/main">
            <a:pPr algn="ctr">
              <a:defRPr sz="1575" b="0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同一のMSP / HCUDB
test集合で比較</a:t>
            </a:r>
          </a:p>
        </p:txBody>
      </p:sp>
      <p:sp>
        <p:nvSpPr>
          <p:cNvPr id="14" name="Flow number 4">
            <a:extLst xmlns:a="http://schemas.openxmlformats.org/drawingml/2006/main">
              <a:ext uri="{FF2B5EF4-FFF2-40B4-BE49-F238E27FC236}">
                <a16:creationId xmlns:a16="http://schemas.microsoft.com/office/drawing/2014/main" id="{F4CFD106-E80B-4554-8985-CA09F5CD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524000"/>
            <a:ext cx="685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B36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09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Test selection caveat">
            <a:extLst xmlns:a="http://schemas.openxmlformats.org/drawingml/2006/main">
              <a:ext uri="{FF2B5EF4-FFF2-40B4-BE49-F238E27FC236}">
                <a16:creationId xmlns:a16="http://schemas.microsoft.com/office/drawing/2014/main" id="{2D92B168-EC79-451A-B51D-4CC4D3A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765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11430">
            <a:solidFill>
              <a:srgbClr val="D9A0A5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C2F35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8C2F35"/>
                </a:solidFill>
                <a:latin typeface="Yu Gothic"/>
                <a:ea typeface="Yu Gothic"/>
                <a:cs typeface="Yu Gothic"/>
              </a:rPr>
              <a:t>test指標はモデル選択に使わず、保存済み結果の記述に限定</a:t>
            </a:r>
          </a:p>
        </p:txBody>
      </p:sp>
    </p:spTree>
    <p:extLst>
      <p:ext uri="{BB962C8B-B14F-4D97-AF65-F5344CB8AC3E}">
        <p14:creationId xmlns:p14="http://schemas.microsoft.com/office/powerpoint/2010/main" val="4872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A2208E-1409-47AC-2C83-1885431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7 / 10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DC4DE2-0B0B-612A-339C-A24DEA7A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データ準備から3 seedの正式評価まで完了した</a:t>
            </a:r>
            <a:endParaRPr sz="2400" b="1">
              <a:solidFill>
                <a:srgbClr val="FFFFFF"/>
              </a:solidFill>
            </a:endParaRP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381125"/>
          <a:ext xmlns:a="http://schemas.openxmlformats.org/drawingml/2006/main" cx="108966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619250"/>
                <a:gridCol w="6134100"/>
              </a:tblGrid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</a:t>
                      </a:r>
                    </a:p>
                  </a:txBody>
                  <a:tcPr marL="76200" marR="76200" marT="66675" marB="66675" anchor="ctr">
                    <a:solidFill>
                      <a:srgbClr val="1F497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MSPデータ整備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6200" marR="76200" marT="66675" marB="66675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欠損・重複除外を固定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MSP特徴抽出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6200" marR="76200" marT="66675" marB="66675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Base encoder・768次元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HCUDB特徴抽出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6200" marR="76200" marT="66675" marB="66675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Base encoder・768次元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正式学習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6200" marR="76200" marT="66675" marB="66675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seed 42 / 43 / 44・各10 epoch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追加学習前後のtest評価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6200" marR="76200" marT="66675" marB="66675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MSP / HCUDBを同一集合で比較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クラス重み比較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E7D32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6200" marR="76200" marT="66675" marB="66675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MSP validationを3 seedで比較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学習モニタリング改修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Yu Gothic"/>
                          <a:ea typeface="Yu Gothic"/>
                          <a:cs typeface="Yu Gothic"/>
                        </a:rPr>
                        <a:t>未コミット</a:t>
                      </a:r>
                    </a:p>
                  </a:txBody>
                  <a:tcPr marL="76200" marR="76200" marT="66675" marB="66675" anchor="ctr">
                    <a:solidFill>
                      <a:srgbClr val="FFF3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333333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現行報告では全160テスト成功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519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ogress Header">
            <a:extLst xmlns:a="http://schemas.openxmlformats.org/drawingml/2006/main">
              <a:ext uri="{FF2B5EF4-FFF2-40B4-BE49-F238E27FC236}">
                <a16:creationId xmlns:a16="http://schemas.microsoft.com/office/drawing/2014/main" id="{E04CCCB8-D278-4B72-AE8A-C9B490A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HCUDBは改善したが、MSPでは全指標が低下した</a:t>
            </a:r>
          </a:p>
        </p:txBody>
      </p:sp>
      <p:sp>
        <p:nvSpPr>
          <p:cNvPr id="2" name="Progress Footer">
            <a:extLst xmlns:a="http://schemas.openxmlformats.org/drawingml/2006/main">
              <a:ext uri="{FF2B5EF4-FFF2-40B4-BE49-F238E27FC236}">
                <a16:creationId xmlns:a16="http://schemas.microsoft.com/office/drawing/2014/main" id="{81ABDD15-F330-46FA-98C0-65A661C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8 / 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7239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9f1580f3734f74"/>
          </a:graphicData>
        </a:graphic>
      </p:graphicFrame>
      <p:sp>
        <p:nvSpPr>
          <p:cNvPr id="4" name="HCUDB delta">
            <a:extLst xmlns:a="http://schemas.openxmlformats.org/drawingml/2006/main">
              <a:ext uri="{FF2B5EF4-FFF2-40B4-BE49-F238E27FC236}">
                <a16:creationId xmlns:a16="http://schemas.microsoft.com/office/drawing/2014/main" id="{4DF5E5E3-8A25-4AB9-8501-DC505CC2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A"/>
          </a:solidFill>
          <a:ln xmlns:a="http://schemas.openxmlformats.org/drawingml/2006/main" w="14288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90500" tIns="1524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rPr>
              <a:t>HCUDB</a:t>
            </a:r>
          </a:p>
          <a:p xmlns:a="http://schemas.openxmlformats.org/drawingml/2006/main">
            <a:pPr algn="l">
              <a:def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rPr>
              <a:t>UAR  +24.58 pt</a:t>
            </a:r>
          </a:p>
          <a:p xmlns:a="http://schemas.openxmlformats.org/drawingml/2006/main">
            <a:pPr algn="l">
              <a:def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rPr>
              <a:t>macro F1  +28.57 pt</a:t>
            </a:r>
          </a:p>
          <a:p xmlns:a="http://schemas.openxmlformats.org/drawingml/2006/main">
            <a:pPr algn="l">
              <a:def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E7D32"/>
                </a:solidFill>
                <a:latin typeface="Yu Gothic"/>
                <a:ea typeface="Yu Gothic"/>
                <a:cs typeface="Yu Gothic"/>
              </a:rPr>
              <a:t>accuracy  +22.56 pt</a:t>
            </a:r>
          </a:p>
        </p:txBody>
      </p:sp>
      <p:sp>
        <p:nvSpPr>
          <p:cNvPr id="5" name="MSP delta">
            <a:extLst xmlns:a="http://schemas.openxmlformats.org/drawingml/2006/main">
              <a:ext uri="{FF2B5EF4-FFF2-40B4-BE49-F238E27FC236}">
                <a16:creationId xmlns:a16="http://schemas.microsoft.com/office/drawing/2014/main" id="{6DF9BCBF-DAD3-4EE2-AF22-3AC17D3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14288">
            <a:solidFill>
              <a:srgbClr val="D9A0A5"/>
            </a:solidFill>
            <a:prstDash val="solid"/>
          </a:ln>
        </p:spPr>
        <p:txBody>
          <a:bodyPr xmlns:a="http://schemas.openxmlformats.org/drawingml/2006/main" wrap="square" lIns="190500" tIns="1524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rPr>
              <a:t>MSP-Podcast</a:t>
            </a:r>
          </a:p>
          <a:p xmlns:a="http://schemas.openxmlformats.org/drawingml/2006/main">
            <a:pPr algn="l">
              <a:def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rPr>
              <a:t>UAR  −3.32 pt</a:t>
            </a:r>
          </a:p>
          <a:p xmlns:a="http://schemas.openxmlformats.org/drawingml/2006/main">
            <a:pPr algn="l">
              <a:def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rPr>
              <a:t>macro F1  −8.85 pt</a:t>
            </a:r>
          </a:p>
          <a:p xmlns:a="http://schemas.openxmlformats.org/drawingml/2006/main">
            <a:pPr algn="l">
              <a:def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23B3B"/>
                </a:solidFill>
                <a:latin typeface="Yu Gothic"/>
                <a:ea typeface="Yu Gothic"/>
                <a:cs typeface="Yu Gothic"/>
              </a:rPr>
              <a:t>accuracy  −18.26 pt</a:t>
            </a:r>
          </a:p>
        </p:txBody>
      </p:sp>
      <p:sp>
        <p:nvSpPr>
          <p:cNvPr id="6" name="Result scope">
            <a:extLst xmlns:a="http://schemas.openxmlformats.org/drawingml/2006/main">
              <a:ext uri="{FF2B5EF4-FFF2-40B4-BE49-F238E27FC236}">
                <a16:creationId xmlns:a16="http://schemas.microsoft.com/office/drawing/2014/main" id="{BB5C6260-68CC-4E29-B13C-4F2CA85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72125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重みなしMSP親モデルの3 seed平均</a:t>
            </a:r>
          </a:p>
        </p:txBody>
      </p:sp>
    </p:spTree>
    <p:extLst>
      <p:ext uri="{BB962C8B-B14F-4D97-AF65-F5344CB8AC3E}">
        <p14:creationId xmlns:p14="http://schemas.microsoft.com/office/powerpoint/2010/main" val="1780720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gress Header">
            <a:extLst xmlns:a="http://schemas.openxmlformats.org/drawingml/2006/main">
              <a:ext uri="{FF2B5EF4-FFF2-40B4-BE49-F238E27FC236}">
                <a16:creationId xmlns:a16="http://schemas.microsoft.com/office/drawing/2014/main" id="{D3DA8D66-2A51-42D7-9AB9-89316A59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クラス重み付けはvalidation UARだけを改善した</a:t>
            </a:r>
          </a:p>
        </p:txBody>
      </p:sp>
      <p:sp>
        <p:nvSpPr>
          <p:cNvPr id="2" name="Progress Footer">
            <a:extLst xmlns:a="http://schemas.openxmlformats.org/drawingml/2006/main">
              <a:ext uri="{FF2B5EF4-FFF2-40B4-BE49-F238E27FC236}">
                <a16:creationId xmlns:a16="http://schemas.microsoft.com/office/drawing/2014/main" id="{9CB01FF6-6DD1-4922-A5FE-F9D9916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9 / 10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76300" y="1581150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460341a7244b78"/>
          </a:graphicData>
        </a:graphic>
      </p:graphicFrame>
      <p:sp>
        <p:nvSpPr>
          <p:cNvPr id="4" name="Metric changes">
            <a:extLst xmlns:a="http://schemas.openxmlformats.org/drawingml/2006/main">
              <a:ext uri="{FF2B5EF4-FFF2-40B4-BE49-F238E27FC236}">
                <a16:creationId xmlns:a16="http://schemas.microsoft.com/office/drawing/2014/main" id="{A3033728-E94B-4F3D-B61E-CC68AEBA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95450"/>
            <a:ext cx="2762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71450" tIns="17145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平均差</a:t>
            </a:r>
          </a:p>
          <a:p xmlns:a="http://schemas.openxmlformats.org/drawingml/2006/main">
            <a:pPr algn="l">
              <a:def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UAR  +3.13 pt</a:t>
            </a:r>
          </a:p>
          <a:p xmlns:a="http://schemas.openxmlformats.org/drawingml/2006/main">
            <a:pPr algn="l">
              <a:def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macro F1  +0.00059 pt</a:t>
            </a:r>
          </a:p>
          <a:p xmlns:a="http://schemas.openxmlformats.org/drawingml/2006/main">
            <a:pPr algn="l">
              <a:def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accuracy  −3.31 pt</a:t>
            </a:r>
          </a:p>
        </p:txBody>
      </p:sp>
      <p:sp>
        <p:nvSpPr>
          <p:cNvPr id="5" name="Weighted test gap">
            <a:extLst xmlns:a="http://schemas.openxmlformats.org/drawingml/2006/main">
              <a:ext uri="{FF2B5EF4-FFF2-40B4-BE49-F238E27FC236}">
                <a16:creationId xmlns:a16="http://schemas.microsoft.com/office/drawing/2014/main" id="{341E8BA8-2D5C-4B66-95C2-BEAC6E4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76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12383">
            <a:solidFill>
              <a:srgbClr val="D8B36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weightedモデルのtestは未評価</a:t>
            </a:r>
          </a:p>
          <a:p xmlns:a="http://schemas.openxmlformats.org/drawingml/2006/main">
            <a:pPr algn="ctr">
              <a:defRPr sz="1425" b="1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一般化性能の改善とは断定しない</a:t>
            </a:r>
          </a:p>
        </p:txBody>
      </p:sp>
    </p:spTree>
    <p:extLst>
      <p:ext uri="{BB962C8B-B14F-4D97-AF65-F5344CB8AC3E}">
        <p14:creationId xmlns:p14="http://schemas.microsoft.com/office/powerpoint/2010/main" val="1996263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gress Header">
            <a:extLst xmlns:a="http://schemas.openxmlformats.org/drawingml/2006/main">
              <a:ext uri="{FF2B5EF4-FFF2-40B4-BE49-F238E27FC236}">
                <a16:creationId xmlns:a16="http://schemas.microsoft.com/office/drawing/2014/main" id="{13D12C05-955F-4835-AB14-FBF11B65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857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42900" tIns="114300" rIns="2857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次は重みありモデルのtest評価で英語低下を再検証する</a:t>
            </a:r>
          </a:p>
        </p:txBody>
      </p:sp>
      <p:sp>
        <p:nvSpPr>
          <p:cNvPr id="2" name="Progress Footer">
            <a:extLst xmlns:a="http://schemas.openxmlformats.org/drawingml/2006/main">
              <a:ext uri="{FF2B5EF4-FFF2-40B4-BE49-F238E27FC236}">
                <a16:creationId xmlns:a16="http://schemas.microsoft.com/office/drawing/2014/main" id="{620A4DFB-C567-4F06-AAAC-CF859FF5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B6777"/>
                </a:solidFill>
                <a:latin typeface="Yu Gothic"/>
                <a:ea typeface="Yu Gothic"/>
                <a:cs typeface="Yu Gothic"/>
              </a:rPr>
              <a:t>10 / 10</a:t>
            </a:r>
          </a:p>
        </p:txBody>
      </p:sp>
      <p:sp>
        <p:nvSpPr>
          <p:cNvPr id="3" name="Action 1">
            <a:extLst xmlns:a="http://schemas.openxmlformats.org/drawingml/2006/main">
              <a:ext uri="{FF2B5EF4-FFF2-40B4-BE49-F238E27FC236}">
                <a16:creationId xmlns:a16="http://schemas.microsoft.com/office/drawing/2014/main" id="{D7526B05-7140-44BC-90DC-6E1383C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952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監視コードを確定</a:t>
            </a:r>
          </a:p>
          <a:p xmlns:a="http://schemas.openxmlformats.org/drawingml/2006/main">
            <a:pPr algn="ctr">
              <a:defRPr sz="1650" b="0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未コミット改修をレビューし
再現可能な状態にする</a:t>
            </a:r>
          </a:p>
        </p:txBody>
      </p:sp>
      <p:sp>
        <p:nvSpPr>
          <p:cNvPr id="4" name="Action number 1">
            <a:extLst xmlns:a="http://schemas.openxmlformats.org/drawingml/2006/main">
              <a:ext uri="{FF2B5EF4-FFF2-40B4-BE49-F238E27FC236}">
                <a16:creationId xmlns:a16="http://schemas.microsoft.com/office/drawing/2014/main" id="{C81DC1CA-753D-4052-8B6C-D44C023F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543050"/>
            <a:ext cx="685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6A7C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437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F5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Action arrow 1">
            <a:extLst xmlns:a="http://schemas.openxmlformats.org/drawingml/2006/main">
              <a:ext uri="{FF2B5EF4-FFF2-40B4-BE49-F238E27FC236}">
                <a16:creationId xmlns:a16="http://schemas.microsoft.com/office/drawing/2014/main" id="{405641D4-E487-4040-8D36-6EE77A3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9925"/>
            <a:ext cx="3714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6" name="Action 2">
            <a:extLst xmlns:a="http://schemas.openxmlformats.org/drawingml/2006/main">
              <a:ext uri="{FF2B5EF4-FFF2-40B4-BE49-F238E27FC236}">
                <a16:creationId xmlns:a16="http://schemas.microsoft.com/office/drawing/2014/main" id="{B3490FDC-3EA5-4744-AC06-24D36F0E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2952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14288">
            <a:solidFill>
              <a:srgbClr val="D8B36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weighted MSPをtest評価</a:t>
            </a:r>
          </a:p>
          <a:p xmlns:a="http://schemas.openxmlformats.org/drawingml/2006/main">
            <a:pPr algn="ctr">
              <a:defRPr sz="1650" b="0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validation改善がtestでも
再現するか確認する</a:t>
            </a:r>
          </a:p>
        </p:txBody>
      </p:sp>
      <p:sp>
        <p:nvSpPr>
          <p:cNvPr id="7" name="Action number 2">
            <a:extLst xmlns:a="http://schemas.openxmlformats.org/drawingml/2006/main">
              <a:ext uri="{FF2B5EF4-FFF2-40B4-BE49-F238E27FC236}">
                <a16:creationId xmlns:a16="http://schemas.microsoft.com/office/drawing/2014/main" id="{AF7B537A-272F-4E92-9A25-16AABCE5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43050"/>
            <a:ext cx="685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B36A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437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26A0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26A0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Action arrow 2">
            <a:extLst xmlns:a="http://schemas.openxmlformats.org/drawingml/2006/main">
              <a:ext uri="{FF2B5EF4-FFF2-40B4-BE49-F238E27FC236}">
                <a16:creationId xmlns:a16="http://schemas.microsoft.com/office/drawing/2014/main" id="{1B803118-E7D6-48A9-9A9F-CBFC17CF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09925"/>
            <a:ext cx="3714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9" name="Action 3">
            <a:extLst xmlns:a="http://schemas.openxmlformats.org/drawingml/2006/main">
              <a:ext uri="{FF2B5EF4-FFF2-40B4-BE49-F238E27FC236}">
                <a16:creationId xmlns:a16="http://schemas.microsoft.com/office/drawing/2014/main" id="{59746EFB-4606-407C-9D69-CB458543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38375"/>
            <a:ext cx="2952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A"/>
          </a:solidFill>
          <a:ln xmlns:a="http://schemas.openxmlformats.org/drawingml/2006/main" w="14288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HCUDBを追加学習</a:t>
            </a:r>
          </a:p>
          <a:p xmlns:a="http://schemas.openxmlformats.org/drawingml/2006/main">
            <a:pPr algn="ctr">
              <a:defRPr sz="1650" b="0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weighted親モデルから学習し
日英両testを比較する</a:t>
            </a:r>
          </a:p>
        </p:txBody>
      </p:sp>
      <p:sp>
        <p:nvSpPr>
          <p:cNvPr id="10" name="Action number 3">
            <a:extLst xmlns:a="http://schemas.openxmlformats.org/drawingml/2006/main">
              <a:ext uri="{FF2B5EF4-FFF2-40B4-BE49-F238E27FC236}">
                <a16:creationId xmlns:a16="http://schemas.microsoft.com/office/drawing/2014/main" id="{77AE3596-6A72-44E2-99B4-8F5A1D5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543050"/>
            <a:ext cx="685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A98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437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42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4542A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Current conclusion">
            <a:extLst xmlns:a="http://schemas.openxmlformats.org/drawingml/2006/main">
              <a:ext uri="{FF2B5EF4-FFF2-40B4-BE49-F238E27FC236}">
                <a16:creationId xmlns:a16="http://schemas.microsoft.com/office/drawing/2014/main" id="{F905292C-3139-4242-BC5F-3B2854FF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CE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今回言えること</a:t>
            </a:r>
          </a:p>
          <a:p xmlns:a="http://schemas.openxmlformats.org/drawingml/2006/main">
            <a:pPr algn="ctr">
              <a:defRPr sz="1575" b="1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HCUDBは改善、MSPは全指標低下</a:t>
            </a:r>
          </a:p>
        </p:txBody>
      </p:sp>
      <p:sp>
        <p:nvSpPr>
          <p:cNvPr id="12" name="Open question">
            <a:extLst xmlns:a="http://schemas.openxmlformats.org/drawingml/2006/main">
              <a:ext uri="{FF2B5EF4-FFF2-40B4-BE49-F238E27FC236}">
                <a16:creationId xmlns:a16="http://schemas.microsoft.com/office/drawing/2014/main" id="{52C01826-33AD-47F6-BBCB-A7F7D58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11430">
            <a:solidFill>
              <a:srgbClr val="D9A0A5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2F3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C2F35"/>
                </a:solidFill>
                <a:latin typeface="Yu Gothic"/>
                <a:ea typeface="Yu Gothic"/>
                <a:cs typeface="Yu Gothic"/>
              </a:rPr>
              <a:t>まだ言えないこと</a:t>
            </a:r>
          </a:p>
          <a:p xmlns:a="http://schemas.openxmlformats.org/drawingml/2006/main">
            <a:pPr algn="ctr">
              <a:defRPr sz="1500" b="1">
                <a:solidFill>
                  <a:srgbClr val="8C2F3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8C2F35"/>
                </a:solidFill>
                <a:latin typeface="Yu Gothic"/>
                <a:ea typeface="Yu Gothic"/>
                <a:cs typeface="Yu Gothic"/>
              </a:rPr>
              <a:t>重み付け後のtest性能と再追加学習後の結果</a:t>
            </a:r>
          </a:p>
        </p:txBody>
      </p:sp>
    </p:spTree>
    <p:extLst>
      <p:ext uri="{BB962C8B-B14F-4D97-AF65-F5344CB8AC3E}">
        <p14:creationId xmlns:p14="http://schemas.microsoft.com/office/powerpoint/2010/main" val="19962634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2026-09-05T01:51:15.1280000Z</dcterms:created>
  <dcterms:modified xsi:type="dcterms:W3CDTF">2026-09-05T01:51:15.1280000Z</dcterms:modified>
</coreProperties>
</file>