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7月版を基に、現在の研究方針と実装進捗を反映した。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日本語性能の向上と英語性能の維持を同時に確認する。エンコーダーは固定し、下流分類器だけを学習する。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  <a:p>
            <a:r>
              <a:t>- https://aclanthology.org/2024.findings-acl.931/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7月版の先行研究整理を継承した。</a:t>
            </a:r>
          </a:p>
          <a:p>
            <a:r>
              <a:t>[Sources]</a:t>
            </a:r>
          </a:p>
          <a:p>
            <a:r>
              <a:t>- https://aclanthology.org/2024.findings-acl.931/</a:t>
            </a:r>
          </a:p>
          <a:p>
            <a:r>
              <a:t>- Local: 7月版スライド3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モデル本体のfine-tuningではなく、固定特徴から下流分類器を学習する研究として目的を修正した。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  <a:p>
            <a:r>
              <a:t>- Local: archive/reports/2026-07-downstream-only-experiment-concerns.md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比較条件は4条件のまま、モデル（Base / Large）と評価言語（日本語 / 英語）の組合せとして整理した。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HCUDBはリポジトリ内の分析結果を反映した。IEMOCAPはセッション単位で分離する。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  <a:p>
            <a:r>
              <a:t>- Local: hcudb.txt</a:t>
            </a:r>
          </a:p>
          <a:p>
            <a:r>
              <a:t>- Local: iemocap_downstream/notebook_pipeline.py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validationでモデル選択を行い、testは最後に評価する。VAD媒介型は主比較とは分けて探索する。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  <a:p>
            <a:r>
              <a:t>- Local: iemocap_downstream/notebook_pipeline.py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下流分類器の学習用Notebookは学習・検証・最終評価の流れを実行できる。デモは合成特徴を使用しており、実IEMOCAP性能は未測定。現在のテストは76件すべて成功した。</a:t>
            </a:r>
          </a:p>
          <a:p>
            <a:r>
              <a:t>[Sources]</a:t>
            </a:r>
          </a:p>
          <a:p>
            <a:r>
              <a:t>- Local: iemocap_downstream/notebook_pipeline.py</a:t>
            </a:r>
          </a:p>
          <a:p>
            <a:r>
              <a:t>- Local: tests/execute_iemocap_base_demo_notebook.py</a:t>
            </a:r>
          </a:p>
          <a:p>
            <a:r>
              <a:t>- Local run: python -m unittest discover -s tests (Ran 76 tests, OK)</a:t>
            </a:r>
          </a:p>
          <a:p>
            <a:r>
              <a:t>- Local: hcudb.txt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実データで4条件を比較し、日本語の改善と英語の維持をそれぞれ判定する。</a:t>
            </a:r>
          </a:p>
          <a:p>
            <a:r>
              <a:t>[Sources]</a:t>
            </a:r>
          </a:p>
          <a:p>
            <a:r>
              <a:t>- Local: docs/plans/ja_ser_vad_category_incremental_plan.md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FB67-6F20-4F01-9AFB-270B24A9D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5A8EF-5140-45DA-8CE9-AAF35D22D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0C709-BAE8-4FEA-85A2-4C3F7FFDCA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8FF8F-2CCE-4DAB-9258-C9410BCB1A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84566-A9D5-4D70-B2D8-ADAEF1D1D7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C734-88AC-42F3-B9E7-46AE9429D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3DDD7-797E-49D9-B43B-E833E0BEE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6C802-06AE-4749-81F8-4F8CD13D04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1815F-251F-4FA0-A5AF-6429E6D876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11D84-7CAE-4A2A-9AFA-A975801F9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2F77-0D83-4464-B725-C5D4B49E4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26E41-671D-400B-B336-62246C53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460DF-2DDE-43D2-B877-6D696B66C0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25A72-D597-46BC-A40C-C3F4393A2F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7A4C0-C6A6-4E2C-A685-256C854F0F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FDD1-138D-459C-8445-91E7A4CE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19CE-5D35-4627-B162-25C9FD44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8A7BB-E11B-4104-8913-026DF2C7DEF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5D36F-59CC-40B3-80CE-80CAC9A5EA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FC6A1-2E2E-4148-A3B0-E8683605AA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DE21-D903-4439-9769-27B6375C1B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3EC2-0B54-4CBB-8C34-A74742AD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D4E-DB1C-4A2C-A84B-84B20A821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48368-665F-4840-945C-414D6098B9F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A87CE-0A65-4BD7-8B13-D23E0DBCA62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846DA-6AE2-4DEC-BBB9-92306C20D9C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B70E0-A86F-49BD-B74B-4825227FF0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6D696-148B-4EBE-AD22-0091326939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47B33-D625-4435-8C3D-43DB229A35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8E72-6DF1-44C6-AC7F-7A4424C8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FD06A-067F-4B4D-B454-BF036050F4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8998C-AC38-4CF3-8551-A042370740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17D97-1809-498D-9E57-3BE4CC6B7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3C371-96B7-42D5-A6DA-57A68FF55F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EFDD0-70A4-4B0D-A3D1-AE851B6706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1F140-F2AE-4B37-9F37-8768AF1CA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4E17-1810-4376-A9CB-85F406EE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EDB2-BAAA-4D04-9707-516DE4EE5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4195A-8E0B-48E6-958C-1C216109215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15F1F-67CD-41DD-BE51-57606D8A78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4EE98-8D23-4EC3-B4D6-59ABC259DA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21186-854A-4CB1-A721-2AD972EA1B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C5DE-8B07-48D3-BB7C-A3D6A0E6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11A17-EABC-4E47-B595-496AFB761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4C7AB-601F-4F7E-9697-F616A3D7E6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88753-D389-40C1-8566-151B16BC29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81BDE-A9AF-4A39-A0D9-C1862A4A2B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A2357-6014-40A7-80EE-7D702A216E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76B9-4ED1-4442-B267-D2974D9D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A324C-CAF2-4306-8B2D-7A7F1D419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AB3F2-2EFE-4AFA-8F31-D8AC4FF05E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235B1-44CF-40ED-86BA-D33417987C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7CFFB-1981-41C8-B728-25DADECCF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80C30-8E93-4EF2-BB50-B3710E7C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D1C54-D8A4-4A6E-A064-D40B6D0F2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122D-407E-41C2-B9E9-2D3BC60E6A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BFB84-3526-4DEF-93D7-DAD1D469F3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623C2-38E2-442F-B1BF-6555C642F7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DD9E4-2CFE-4C04-8171-D9EFEF3E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C4ECE-7BC5-4268-B887-22B5B73E3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6F061-853E-4BC7-8BB0-9F532F72DCF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2026/8/6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D3F47-21E0-43A2-98DC-EEAAA2C5AB6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EEFA2-5694-4400-A2AC-6F50D08E0D8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01BCD-9C4C-48FE-B47B-DD1F425AD2AD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10332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dirty="0"/>
              <a:t>音声感情認識モデルの追加学習による日本語適用と精度評価</a:t>
            </a:r>
          </a:p>
          <a:p>
            <a:pPr algn="ctr">
              <a:buNone/>
            </a:pPr>
            <a:endParaRPr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36625-3A05-4CED-B6D0-55B93523788C}"/>
              </a:ext>
            </a:extLst>
          </p:cNvPr>
          <p:cNvSpPr>
            <a:spLocks noGrp="1"/>
          </p:cNvSpPr>
          <p:nvPr/>
        </p:nvSpPr>
        <p:spPr>
          <a:xfrm>
            <a:off x="914400" y="41148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800">
                <a:solidFill>
                  <a:srgbClr val="333333"/>
                </a:solidFill>
              </a:rPr>
              <a:t>23RD004 秋山 叶太</a:t>
            </a:r>
          </a:p>
          <a:p>
            <a:pPr algn="ctr">
              <a:buNone/>
            </a:pPr>
            <a:r>
              <a:rPr sz="1800">
                <a:solidFill>
                  <a:srgbClr val="333333"/>
                </a:solidFill>
              </a:rPr>
              <a:t>日付：2026年8月6日</a:t>
            </a:r>
          </a:p>
        </p:txBody>
      </p:sp>
    </p:spTree>
    <p:extLst>
      <p:ext uri="{BB962C8B-B14F-4D97-AF65-F5344CB8AC3E}">
        <p14:creationId xmlns:p14="http://schemas.microsoft.com/office/powerpoint/2010/main" val="54744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D56C5-7CF5-45DB-8368-4A977492E48B}"/>
              </a:ext>
            </a:extLst>
          </p:cNvPr>
          <p:cNvSpPr>
            <a:spLocks noGrp="1"/>
          </p:cNvSpPr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999999"/>
                </a:solidFill>
              </a:rPr>
              <a:t>1 /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4BDE7-37B6-4DAD-9B60-C7658F6B02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anchor="ctr"/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</a:rPr>
              <a:t>背景・動機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2E755-ECD2-428F-B3AC-596DF9B75E3A}"/>
              </a:ext>
            </a:extLst>
          </p:cNvPr>
          <p:cNvSpPr>
            <a:spLocks noGrp="1"/>
          </p:cNvSpPr>
          <p:nvPr/>
        </p:nvSpPr>
        <p:spPr>
          <a:xfrm>
            <a:off x="457200" y="1280160"/>
            <a:ext cx="11247120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1. </a:t>
            </a:r>
            <a:r>
              <a:rPr sz="2800" dirty="0" err="1">
                <a:solidFill>
                  <a:srgbClr val="333333"/>
                </a:solidFill>
              </a:rPr>
              <a:t>音声感情認識（SER</a:t>
            </a:r>
            <a:r>
              <a:rPr sz="2800" dirty="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音声から感情カテゴリを推定する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2. emotion2vec</a:t>
            </a: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音声から感情に関わる特徴を抽出できる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3. </a:t>
            </a:r>
            <a:r>
              <a:rPr sz="2800" dirty="0" err="1">
                <a:solidFill>
                  <a:srgbClr val="333333"/>
                </a:solidFill>
              </a:rPr>
              <a:t>本研究の課題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sz="2800" dirty="0" err="1">
                <a:solidFill>
                  <a:srgbClr val="333333"/>
                </a:solidFill>
              </a:rPr>
              <a:t>日本語性能の向上と英語性能の維持を同時に確認する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4. </a:t>
            </a:r>
            <a:r>
              <a:rPr sz="2800" dirty="0" err="1">
                <a:solidFill>
                  <a:srgbClr val="333333"/>
                </a:solidFill>
              </a:rPr>
              <a:t>方針</a:t>
            </a:r>
            <a:endParaRPr sz="28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   ・</a:t>
            </a:r>
            <a:r>
              <a:rPr lang="en-US" sz="2800" dirty="0">
                <a:solidFill>
                  <a:srgbClr val="333333"/>
                </a:solidFill>
              </a:rPr>
              <a:t>emotion2vec</a:t>
            </a:r>
            <a:r>
              <a:rPr lang="ja-JP" altLang="en-US" sz="2800" dirty="0">
                <a:solidFill>
                  <a:srgbClr val="333333"/>
                </a:solidFill>
              </a:rPr>
              <a:t>の重みを</a:t>
            </a:r>
            <a:r>
              <a:rPr sz="2800" dirty="0" err="1">
                <a:solidFill>
                  <a:srgbClr val="333333"/>
                </a:solidFill>
              </a:rPr>
              <a:t>固定し</a:t>
            </a:r>
            <a:r>
              <a:rPr sz="2800" dirty="0">
                <a:solidFill>
                  <a:srgbClr val="333333"/>
                </a:solidFill>
              </a:rPr>
              <a:t>、</a:t>
            </a:r>
            <a:r>
              <a:rPr lang="ja-JP" altLang="en-US" sz="2800" dirty="0">
                <a:solidFill>
                  <a:srgbClr val="333333"/>
                </a:solidFill>
              </a:rPr>
              <a:t>下流</a:t>
            </a:r>
            <a:r>
              <a:rPr sz="2800" dirty="0" err="1">
                <a:solidFill>
                  <a:srgbClr val="333333"/>
                </a:solidFill>
              </a:rPr>
              <a:t>分類器だけを学習する</a:t>
            </a:r>
            <a:endParaRPr sz="28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63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26415-E84B-457C-A2A7-D345016689A9}"/>
              </a:ext>
            </a:extLst>
          </p:cNvPr>
          <p:cNvSpPr>
            <a:spLocks noGrp="1"/>
          </p:cNvSpPr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999999"/>
                </a:solidFill>
              </a:rPr>
              <a:t>2 /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89AC6-616B-4354-A212-DB328CF2B6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anchor="ctr"/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</a:rPr>
              <a:t>先行研究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E72CE-F8CF-42F8-B36E-6D0ADC3F0AC8}"/>
              </a:ext>
            </a:extLst>
          </p:cNvPr>
          <p:cNvSpPr>
            <a:spLocks noGrp="1"/>
          </p:cNvSpPr>
          <p:nvPr/>
        </p:nvSpPr>
        <p:spPr>
          <a:xfrm>
            <a:off x="457200" y="1280160"/>
            <a:ext cx="1124712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2800">
                <a:solidFill>
                  <a:srgbClr val="333333"/>
                </a:solidFill>
              </a:rPr>
              <a:t>1. emotion2vec（Ma et al., 2024）</a:t>
            </a:r>
          </a:p>
          <a:p>
            <a:pPr>
              <a:spcAft>
                <a:spcPts val="200"/>
              </a:spcAft>
              <a:buNone/>
            </a:pPr>
            <a:r>
              <a:rPr sz="2800">
                <a:solidFill>
                  <a:srgbClr val="333333"/>
                </a:solidFill>
              </a:rPr>
              <a:t>   ・音声感情認識のための自己教師あり事前学習の汎用モデル／本研究のベースモデル</a:t>
            </a:r>
          </a:p>
          <a:p>
            <a:pPr>
              <a:spcAft>
                <a:spcPts val="200"/>
              </a:spcAft>
              <a:buNone/>
            </a:pPr>
            <a:r>
              <a:rPr sz="2800">
                <a:solidFill>
                  <a:srgbClr val="333333"/>
                </a:solidFill>
              </a:rPr>
              <a:t>2. wav2vec 2.0 –large-robust-12-ft-emotion-msp-dim（</a:t>
            </a:r>
            <a:r>
              <a:t>Wagner 23</a:t>
            </a:r>
            <a:r>
              <a:rPr sz="2800">
                <a:solidFill>
                  <a:srgbClr val="333333"/>
                </a:solidFill>
              </a:rPr>
              <a:t>）</a:t>
            </a:r>
          </a:p>
          <a:p>
            <a:pPr>
              <a:spcAft>
                <a:spcPts val="200"/>
              </a:spcAft>
              <a:buNone/>
            </a:pPr>
            <a:r>
              <a:rPr sz="2800">
                <a:solidFill>
                  <a:srgbClr val="333333"/>
                </a:solidFill>
              </a:rPr>
              <a:t>3. 研究室内部資料（田中, 2025）</a:t>
            </a:r>
          </a:p>
          <a:p>
            <a:pPr>
              <a:spcAft>
                <a:spcPts val="200"/>
              </a:spcAft>
              <a:buNone/>
            </a:pPr>
            <a:r>
              <a:rPr sz="2800">
                <a:solidFill>
                  <a:srgbClr val="333333"/>
                </a:solidFill>
              </a:rPr>
              <a:t>   ・2段階構造（VAD回帰＋感情分類）</a:t>
            </a:r>
          </a:p>
        </p:txBody>
      </p:sp>
    </p:spTree>
    <p:extLst>
      <p:ext uri="{BB962C8B-B14F-4D97-AF65-F5344CB8AC3E}">
        <p14:creationId xmlns:p14="http://schemas.microsoft.com/office/powerpoint/2010/main" val="117437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FA8D5E-25EE-4DCA-9561-67B2411C3C68}"/>
              </a:ext>
            </a:extLst>
          </p:cNvPr>
          <p:cNvSpPr>
            <a:spLocks noGrp="1"/>
          </p:cNvSpPr>
          <p:nvPr/>
        </p:nvSpPr>
        <p:spPr>
          <a:xfrm>
            <a:off x="11538322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999999"/>
                </a:solidFill>
              </a:rPr>
              <a:t>3 /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65757-36A5-4E3A-ACDD-6D4D5DB8B66D}"/>
              </a:ext>
            </a:extLst>
          </p:cNvPr>
          <p:cNvSpPr>
            <a:spLocks noGrp="1"/>
          </p:cNvSpPr>
          <p:nvPr/>
        </p:nvSpPr>
        <p:spPr>
          <a:xfrm>
            <a:off x="13652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anchor="ctr"/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</a:rPr>
              <a:t>研究目的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C973B-4FF5-4614-9633-2818D1B38A5C}"/>
              </a:ext>
            </a:extLst>
          </p:cNvPr>
          <p:cNvSpPr>
            <a:spLocks noGrp="1"/>
          </p:cNvSpPr>
          <p:nvPr/>
        </p:nvSpPr>
        <p:spPr>
          <a:xfrm>
            <a:off x="470852" y="1280160"/>
            <a:ext cx="11247120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【</a:t>
            </a:r>
            <a:r>
              <a:rPr sz="2800" dirty="0" err="1">
                <a:solidFill>
                  <a:srgbClr val="333333"/>
                </a:solidFill>
              </a:rPr>
              <a:t>研究目的</a:t>
            </a:r>
            <a:r>
              <a:rPr sz="2800" dirty="0">
                <a:solidFill>
                  <a:srgbClr val="333333"/>
                </a:solidFill>
              </a:rPr>
              <a:t>】</a:t>
            </a:r>
          </a:p>
          <a:p>
            <a:pPr>
              <a:spcAft>
                <a:spcPts val="200"/>
              </a:spcAft>
              <a:buNone/>
            </a:pPr>
            <a:r>
              <a:rPr sz="2800" dirty="0">
                <a:solidFill>
                  <a:srgbClr val="333333"/>
                </a:solidFill>
              </a:rPr>
              <a:t>emotion2vec </a:t>
            </a:r>
            <a:r>
              <a:rPr lang="ja-JP" altLang="en-US" sz="2800" dirty="0">
                <a:solidFill>
                  <a:srgbClr val="333333"/>
                </a:solidFill>
              </a:rPr>
              <a:t>を用いた下流</a:t>
            </a:r>
            <a:r>
              <a:rPr sz="2800" dirty="0" err="1">
                <a:solidFill>
                  <a:srgbClr val="333333"/>
                </a:solidFill>
              </a:rPr>
              <a:t>分類器</a:t>
            </a:r>
            <a:r>
              <a:rPr lang="ja-JP" altLang="en-US" sz="2800" dirty="0">
                <a:solidFill>
                  <a:srgbClr val="333333"/>
                </a:solidFill>
              </a:rPr>
              <a:t>を日本語音声データで</a:t>
            </a:r>
            <a:r>
              <a:rPr sz="2800" dirty="0" err="1">
                <a:solidFill>
                  <a:srgbClr val="333333"/>
                </a:solidFill>
              </a:rPr>
              <a:t>学習</a:t>
            </a:r>
            <a:r>
              <a:rPr lang="ja-JP" altLang="en-US" sz="2800" dirty="0">
                <a:solidFill>
                  <a:srgbClr val="333333"/>
                </a:solidFill>
              </a:rPr>
              <a:t>することで</a:t>
            </a:r>
            <a:r>
              <a:rPr sz="2800" dirty="0" err="1">
                <a:solidFill>
                  <a:srgbClr val="333333"/>
                </a:solidFill>
              </a:rPr>
              <a:t>日本語SERを改善しつつ、英語SER性能を維持できる構成を検証する</a:t>
            </a:r>
            <a:r>
              <a:rPr sz="2800" dirty="0">
                <a:solidFill>
                  <a:srgbClr val="333333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6541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BC3B4D-8AA5-4969-9C58-8D869D0F74C3}"/>
              </a:ext>
            </a:extLst>
          </p:cNvPr>
          <p:cNvSpPr>
            <a:spLocks noGrp="1"/>
          </p:cNvSpPr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999999"/>
                </a:solidFill>
              </a:rPr>
              <a:t>4 /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678B57-D6D9-4836-AC01-C063868BA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anchor="ctr"/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</a:rPr>
              <a:t>比較条件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8E1F5-25B5-4CA0-A43A-3CC94B5DBAE6}"/>
              </a:ext>
            </a:extLst>
          </p:cNvPr>
          <p:cNvSpPr>
            <a:spLocks noGrp="1"/>
          </p:cNvSpPr>
          <p:nvPr/>
        </p:nvSpPr>
        <p:spPr>
          <a:xfrm>
            <a:off x="470852" y="1399678"/>
            <a:ext cx="11247120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 err="1"/>
              <a:t>モデル</a:t>
            </a:r>
            <a:r>
              <a:rPr sz="2800" dirty="0"/>
              <a:t> × 言語の4条件を比較する</a:t>
            </a:r>
          </a:p>
          <a:p>
            <a:endParaRPr sz="2800" dirty="0"/>
          </a:p>
          <a:p>
            <a:r>
              <a:rPr sz="2800" dirty="0"/>
              <a:t>1. emotion2vec  × </a:t>
            </a:r>
            <a:r>
              <a:rPr sz="2800" dirty="0" err="1"/>
              <a:t>日本語（HCUDB</a:t>
            </a:r>
            <a:r>
              <a:rPr sz="2800" dirty="0"/>
              <a:t>）</a:t>
            </a:r>
          </a:p>
          <a:p>
            <a:r>
              <a:rPr sz="2800" dirty="0"/>
              <a:t>2. emotion2vec  × </a:t>
            </a:r>
            <a:r>
              <a:rPr sz="2800" dirty="0" err="1"/>
              <a:t>英語（IEMOCAP</a:t>
            </a:r>
            <a:r>
              <a:rPr sz="2800" dirty="0"/>
              <a:t>）</a:t>
            </a:r>
          </a:p>
          <a:p>
            <a:r>
              <a:rPr sz="2800" dirty="0"/>
              <a:t>3. emotion2vec+ Large × </a:t>
            </a:r>
            <a:r>
              <a:rPr sz="2800" dirty="0" err="1"/>
              <a:t>日本語（HCUDB</a:t>
            </a:r>
            <a:r>
              <a:rPr sz="2800" dirty="0"/>
              <a:t>）</a:t>
            </a:r>
          </a:p>
          <a:p>
            <a:r>
              <a:rPr sz="2800" dirty="0"/>
              <a:t>4. emotion2vec+ Large × </a:t>
            </a:r>
            <a:r>
              <a:rPr sz="2800" dirty="0" err="1"/>
              <a:t>英語（IEMOCAP</a:t>
            </a:r>
            <a:r>
              <a:rPr sz="2800" dirty="0"/>
              <a:t>）</a:t>
            </a:r>
          </a:p>
          <a:p>
            <a:pPr>
              <a:spcAft>
                <a:spcPts val="200"/>
              </a:spcAft>
              <a:buNone/>
            </a:pPr>
            <a:endParaRPr sz="2800" dirty="0"/>
          </a:p>
          <a:p>
            <a:pPr>
              <a:spcAft>
                <a:spcPts val="200"/>
              </a:spcAft>
              <a:buNone/>
            </a:pPr>
            <a:r>
              <a:rPr sz="2800" dirty="0" err="1">
                <a:solidFill>
                  <a:srgbClr val="333333"/>
                </a:solidFill>
              </a:rPr>
              <a:t>エンコーダーは固定し、入力次元以外の下流条件をそろえる</a:t>
            </a:r>
            <a:endParaRPr sz="28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31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566CE-AB65-46CC-AA10-313D34705586}"/>
              </a:ext>
            </a:extLst>
          </p:cNvPr>
          <p:cNvSpPr>
            <a:spLocks noGrp="1"/>
          </p:cNvSpPr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999999"/>
                </a:solidFill>
              </a:rPr>
              <a:t>5 /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D18A7-C7EC-4DE8-AE2C-FC7D8A166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anchor="ctr"/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</a:rPr>
              <a:t>データセット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A5D13-1BB6-4A11-9114-764CA6DA8C37}"/>
              </a:ext>
            </a:extLst>
          </p:cNvPr>
          <p:cNvSpPr>
            <a:spLocks noGrp="1"/>
          </p:cNvSpPr>
          <p:nvPr/>
        </p:nvSpPr>
        <p:spPr>
          <a:xfrm>
            <a:off x="365760" y="1093347"/>
            <a:ext cx="112471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日本語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   ・</a:t>
            </a:r>
            <a:r>
              <a:rPr lang="en-US" altLang="ja-JP" sz="2400" dirty="0">
                <a:solidFill>
                  <a:srgbClr val="333333"/>
                </a:solidFill>
              </a:rPr>
              <a:t>HCUDB</a:t>
            </a:r>
            <a:r>
              <a:rPr lang="ja-JP" altLang="en-US" sz="2400" dirty="0">
                <a:solidFill>
                  <a:srgbClr val="333333"/>
                </a:solidFill>
              </a:rPr>
              <a:t>（広島市立大学 感情音声コーパス）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   		</a:t>
            </a:r>
            <a:r>
              <a:rPr lang="en-US" altLang="ja-JP" sz="2400" dirty="0">
                <a:solidFill>
                  <a:srgbClr val="333333"/>
                </a:solidFill>
              </a:rPr>
              <a:t>14</a:t>
            </a:r>
            <a:r>
              <a:rPr lang="ja-JP" altLang="en-US" sz="2400" dirty="0">
                <a:solidFill>
                  <a:srgbClr val="333333"/>
                </a:solidFill>
              </a:rPr>
              <a:t>話者 </a:t>
            </a:r>
            <a:r>
              <a:rPr lang="en-US" altLang="ja-JP" sz="2400" dirty="0">
                <a:solidFill>
                  <a:srgbClr val="333333"/>
                </a:solidFill>
              </a:rPr>
              <a:t>× 10</a:t>
            </a:r>
            <a:r>
              <a:rPr lang="ja-JP" altLang="en-US" sz="2400" dirty="0">
                <a:solidFill>
                  <a:srgbClr val="333333"/>
                </a:solidFill>
              </a:rPr>
              <a:t>セリフ </a:t>
            </a:r>
            <a:r>
              <a:rPr lang="en-US" altLang="ja-JP" sz="2400" dirty="0">
                <a:solidFill>
                  <a:srgbClr val="333333"/>
                </a:solidFill>
              </a:rPr>
              <a:t>× 11</a:t>
            </a:r>
            <a:r>
              <a:rPr lang="ja-JP" altLang="en-US" sz="2400" dirty="0">
                <a:solidFill>
                  <a:srgbClr val="333333"/>
                </a:solidFill>
              </a:rPr>
              <a:t>感情 </a:t>
            </a:r>
            <a:r>
              <a:rPr lang="en-US" altLang="ja-JP" sz="2400" dirty="0">
                <a:solidFill>
                  <a:srgbClr val="333333"/>
                </a:solidFill>
              </a:rPr>
              <a:t>× 3</a:t>
            </a:r>
            <a:r>
              <a:rPr lang="ja-JP" altLang="en-US" sz="2400" dirty="0">
                <a:solidFill>
                  <a:srgbClr val="333333"/>
                </a:solidFill>
              </a:rPr>
              <a:t>テイク ＝ </a:t>
            </a:r>
            <a:r>
              <a:rPr lang="en-US" altLang="ja-JP" sz="2400" dirty="0">
                <a:solidFill>
                  <a:srgbClr val="333333"/>
                </a:solidFill>
              </a:rPr>
              <a:t>4,620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    ・感情を込めた発話データセット（日本人のプロの声優や声優科の学生	男女</a:t>
            </a:r>
            <a:r>
              <a:rPr lang="en-US" altLang="ja-JP" sz="2400" dirty="0">
                <a:solidFill>
                  <a:srgbClr val="333333"/>
                </a:solidFill>
              </a:rPr>
              <a:t>100</a:t>
            </a:r>
            <a:r>
              <a:rPr lang="ja-JP" altLang="en-US" sz="2400" dirty="0">
                <a:solidFill>
                  <a:srgbClr val="333333"/>
                </a:solidFill>
              </a:rPr>
              <a:t>名	による日本語の発話データセット）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		</a:t>
            </a:r>
            <a:r>
              <a:rPr lang="en-US" altLang="ja-JP" sz="2400" dirty="0">
                <a:solidFill>
                  <a:srgbClr val="333333"/>
                </a:solidFill>
              </a:rPr>
              <a:t>8</a:t>
            </a:r>
            <a:r>
              <a:rPr lang="ja-JP" altLang="en-US" sz="2400" dirty="0">
                <a:solidFill>
                  <a:srgbClr val="333333"/>
                </a:solidFill>
              </a:rPr>
              <a:t>感情</a:t>
            </a:r>
            <a:r>
              <a:rPr lang="en-US" altLang="ja-JP" sz="2400" dirty="0">
                <a:solidFill>
                  <a:srgbClr val="333333"/>
                </a:solidFill>
              </a:rPr>
              <a:t>×</a:t>
            </a:r>
            <a:r>
              <a:rPr lang="ja-JP" altLang="en-US" sz="2400" dirty="0">
                <a:solidFill>
                  <a:srgbClr val="333333"/>
                </a:solidFill>
              </a:rPr>
              <a:t>強弱</a:t>
            </a:r>
            <a:r>
              <a:rPr lang="en-US" altLang="ja-JP" sz="2400" dirty="0">
                <a:solidFill>
                  <a:srgbClr val="333333"/>
                </a:solidFill>
              </a:rPr>
              <a:t>×2</a:t>
            </a:r>
            <a:r>
              <a:rPr lang="ja-JP" altLang="en-US" sz="2400" dirty="0">
                <a:solidFill>
                  <a:srgbClr val="333333"/>
                </a:solidFill>
              </a:rPr>
              <a:t>セリフ</a:t>
            </a:r>
            <a:r>
              <a:rPr lang="en-US" altLang="ja-JP" sz="2400" dirty="0">
                <a:solidFill>
                  <a:srgbClr val="333333"/>
                </a:solidFill>
              </a:rPr>
              <a:t>×2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  <a:r>
              <a:rPr lang="en-US" altLang="ja-JP" sz="2400" dirty="0">
                <a:solidFill>
                  <a:srgbClr val="333333"/>
                </a:solidFill>
              </a:rPr>
              <a:t>×100</a:t>
            </a:r>
            <a:r>
              <a:rPr lang="ja-JP" altLang="en-US" sz="2400" dirty="0">
                <a:solidFill>
                  <a:srgbClr val="333333"/>
                </a:solidFill>
              </a:rPr>
              <a:t>モデル ＝ </a:t>
            </a:r>
            <a:r>
              <a:rPr lang="en-US" altLang="ja-JP" sz="2400" dirty="0">
                <a:solidFill>
                  <a:srgbClr val="333333"/>
                </a:solidFill>
              </a:rPr>
              <a:t>6400</a:t>
            </a:r>
            <a:r>
              <a:rPr lang="ja-JP" altLang="en-US" sz="2400" dirty="0">
                <a:solidFill>
                  <a:srgbClr val="333333"/>
                </a:solidFill>
              </a:rPr>
              <a:t>発話</a:t>
            </a:r>
          </a:p>
          <a:p>
            <a:pPr>
              <a:spcAft>
                <a:spcPts val="200"/>
              </a:spcAft>
            </a:pPr>
            <a:endParaRPr lang="ja-JP" altLang="en-US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英語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	・</a:t>
            </a:r>
            <a:r>
              <a:rPr lang="en-US" altLang="ja-JP" sz="2400" b="1" dirty="0"/>
              <a:t>IEMOCAP</a:t>
            </a:r>
            <a:r>
              <a:rPr lang="ja-JP" altLang="en-US" sz="2400" dirty="0"/>
              <a:t>（</a:t>
            </a:r>
            <a:r>
              <a:rPr lang="en-US" altLang="ja-JP" sz="2400" dirty="0"/>
              <a:t>USC </a:t>
            </a:r>
            <a:r>
              <a:rPr lang="ja-JP" altLang="en-US" sz="2400" dirty="0"/>
              <a:t>対話型感情動作キャプチャ</a:t>
            </a:r>
            <a:r>
              <a:rPr lang="en-US" altLang="ja-JP" sz="2400" dirty="0"/>
              <a:t>DB</a:t>
            </a:r>
            <a:r>
              <a:rPr lang="ja-JP" altLang="en-US" sz="2400" dirty="0"/>
              <a:t>） 　</a:t>
            </a:r>
          </a:p>
          <a:p>
            <a:pPr>
              <a:spcAft>
                <a:spcPts val="200"/>
              </a:spcAft>
            </a:pPr>
            <a:r>
              <a:rPr lang="ja-JP" altLang="en-US" sz="2400" dirty="0"/>
              <a:t>		</a:t>
            </a:r>
            <a:r>
              <a:rPr lang="en-US" altLang="ja-JP" sz="2400" dirty="0"/>
              <a:t>10</a:t>
            </a:r>
            <a:r>
              <a:rPr lang="ja-JP" altLang="en-US" sz="2400" dirty="0"/>
              <a:t>話者（男</a:t>
            </a:r>
            <a:r>
              <a:rPr lang="en-US" altLang="ja-JP" sz="2400" dirty="0"/>
              <a:t>5</a:t>
            </a:r>
            <a:r>
              <a:rPr lang="ja-JP" altLang="en-US" sz="2400" dirty="0"/>
              <a:t>・女</a:t>
            </a:r>
            <a:r>
              <a:rPr lang="en-US" altLang="ja-JP" sz="2400" dirty="0"/>
              <a:t>5</a:t>
            </a:r>
            <a:r>
              <a:rPr lang="ja-JP" altLang="en-US" sz="2400" dirty="0"/>
              <a:t>）</a:t>
            </a:r>
            <a:r>
              <a:rPr lang="en-US" altLang="ja-JP" sz="2400" dirty="0"/>
              <a:t>× 5</a:t>
            </a:r>
            <a:r>
              <a:rPr lang="ja-JP" altLang="en-US" sz="2400" dirty="0"/>
              <a:t>セッション </a:t>
            </a:r>
            <a:r>
              <a:rPr lang="en-US" altLang="ja-JP" sz="2400" dirty="0"/>
              <a:t>× 9</a:t>
            </a:r>
            <a:r>
              <a:rPr lang="ja-JP" altLang="en-US" sz="2400" dirty="0"/>
              <a:t>感情 ≈ </a:t>
            </a:r>
            <a:r>
              <a:rPr lang="en-US" altLang="ja-JP" sz="2400" dirty="0"/>
              <a:t>10,039</a:t>
            </a:r>
            <a:r>
              <a:rPr lang="ja-JP" altLang="en-US" sz="2400" dirty="0"/>
              <a:t>発話</a:t>
            </a:r>
            <a:r>
              <a:rPr lang="ja-JP" altLang="en-US" sz="2400" dirty="0">
                <a:solidFill>
                  <a:srgbClr val="333333"/>
                </a:solidFill>
              </a:rPr>
              <a:t>	</a:t>
            </a:r>
          </a:p>
          <a:p>
            <a:pPr>
              <a:spcAft>
                <a:spcPts val="200"/>
              </a:spcAft>
            </a:pPr>
            <a:r>
              <a:rPr lang="ja-JP" altLang="en-US" sz="2400" dirty="0">
                <a:solidFill>
                  <a:srgbClr val="333333"/>
                </a:solidFill>
              </a:rPr>
              <a:t>	・</a:t>
            </a:r>
            <a:r>
              <a:rPr lang="en-US" altLang="ja-JP" sz="2400" b="1" dirty="0"/>
              <a:t>MSP-Podcast</a:t>
            </a:r>
            <a:r>
              <a:rPr lang="ja-JP" altLang="en-US" sz="2400" dirty="0"/>
              <a:t>（</a:t>
            </a:r>
            <a:r>
              <a:rPr lang="en-US" altLang="ja-JP" sz="2400" dirty="0"/>
              <a:t>UT Dallas </a:t>
            </a:r>
            <a:r>
              <a:rPr lang="ja-JP" altLang="en-US" sz="2400" dirty="0"/>
              <a:t>ポッドキャスト感情コーパス） 　</a:t>
            </a:r>
          </a:p>
          <a:p>
            <a:pPr>
              <a:spcAft>
                <a:spcPts val="200"/>
              </a:spcAft>
            </a:pPr>
            <a:r>
              <a:rPr lang="ja-JP" altLang="en-US" sz="2400" dirty="0"/>
              <a:t>		多数話者（自然収集）</a:t>
            </a:r>
            <a:r>
              <a:rPr lang="en-US" altLang="ja-JP" sz="2400" dirty="0"/>
              <a:t>× 8</a:t>
            </a:r>
            <a:r>
              <a:rPr lang="ja-JP" altLang="en-US" sz="2400" dirty="0"/>
              <a:t>感情カテゴリ ＋ </a:t>
            </a:r>
            <a:r>
              <a:rPr lang="en-US" altLang="ja-JP" sz="2400" dirty="0"/>
              <a:t>VAD</a:t>
            </a:r>
            <a:r>
              <a:rPr lang="ja-JP" altLang="en-US" sz="2400" dirty="0"/>
              <a:t>次元ラベル ≈ </a:t>
            </a:r>
            <a:r>
              <a:rPr lang="en-US" altLang="ja-JP" sz="2400" dirty="0"/>
              <a:t>90,000+</a:t>
            </a:r>
            <a:r>
              <a:rPr lang="ja-JP" altLang="en-US" sz="2400" dirty="0"/>
              <a:t>発話</a:t>
            </a:r>
            <a:endParaRPr lang="ja-JP" altLang="en-US" sz="2400" dirty="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  <a:buNone/>
            </a:pPr>
            <a:endParaRPr dirty="0"/>
          </a:p>
          <a:p>
            <a:pPr>
              <a:spcAft>
                <a:spcPts val="200"/>
              </a:spcAft>
              <a:buNone/>
            </a:pPr>
            <a:r>
              <a:rPr sz="2400" dirty="0" err="1">
                <a:solidFill>
                  <a:srgbClr val="333333"/>
                </a:solidFill>
              </a:rPr>
              <a:t>日英で比較する感情ラベルの対応を事前に固定する</a:t>
            </a:r>
            <a:endParaRPr sz="24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56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300EE-6262-4888-91AA-98E60D7555FD}"/>
              </a:ext>
            </a:extLst>
          </p:cNvPr>
          <p:cNvSpPr>
            <a:spLocks noGrp="1"/>
          </p:cNvSpPr>
          <p:nvPr/>
        </p:nvSpPr>
        <p:spPr>
          <a:xfrm>
            <a:off x="11524670" y="640080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999999"/>
                </a:solidFill>
              </a:rPr>
              <a:t>6 /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318A1-9B7F-4CBA-8717-D9C47FC386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tIns="182880" anchor="ctr"/>
          <a:lstStyle/>
          <a:p>
            <a:pPr algn="l">
              <a:buNone/>
            </a:pPr>
            <a:r>
              <a:rPr sz="2400" b="1">
                <a:solidFill>
                  <a:srgbClr val="FFFFFF"/>
                </a:solidFill>
              </a:rPr>
              <a:t>実験設定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E718C-E792-44F5-A69E-A8306C7C7E63}"/>
              </a:ext>
            </a:extLst>
          </p:cNvPr>
          <p:cNvSpPr>
            <a:spLocks noGrp="1"/>
          </p:cNvSpPr>
          <p:nvPr/>
        </p:nvSpPr>
        <p:spPr>
          <a:xfrm>
            <a:off x="457200" y="1280160"/>
            <a:ext cx="11247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800" dirty="0"/>
              <a:t>固定したemotion2vec Base / </a:t>
            </a:r>
            <a:r>
              <a:rPr sz="2800" dirty="0" err="1"/>
              <a:t>Large特徴</a:t>
            </a:r>
            <a:endParaRPr sz="2800" dirty="0"/>
          </a:p>
          <a:p>
            <a:pPr marL="457200" indent="-457200">
              <a:buFont typeface="Arial"/>
              <a:buChar char="•"/>
            </a:pPr>
            <a:r>
              <a:rPr sz="2800" dirty="0" err="1"/>
              <a:t>学習：下流分類器のみ</a:t>
            </a:r>
            <a:endParaRPr sz="2800" dirty="0"/>
          </a:p>
          <a:p>
            <a:pPr marL="457200" indent="-457200">
              <a:buFont typeface="Arial"/>
              <a:buChar char="•"/>
            </a:pPr>
            <a:r>
              <a:rPr sz="2800" dirty="0" err="1"/>
              <a:t>主指標：macro</a:t>
            </a:r>
            <a:r>
              <a:rPr sz="2800" dirty="0"/>
              <a:t> F1、UA</a:t>
            </a:r>
          </a:p>
          <a:p>
            <a:pPr marL="457200" indent="-457200">
              <a:buFont typeface="Arial"/>
              <a:buChar char="•"/>
            </a:pPr>
            <a:r>
              <a:rPr sz="2800" dirty="0" err="1"/>
              <a:t>補助指標：WA</a:t>
            </a:r>
            <a:r>
              <a:rPr sz="2800" dirty="0"/>
              <a:t> / accuracy</a:t>
            </a:r>
          </a:p>
        </p:txBody>
      </p:sp>
    </p:spTree>
    <p:extLst>
      <p:ext uri="{BB962C8B-B14F-4D97-AF65-F5344CB8AC3E}">
        <p14:creationId xmlns:p14="http://schemas.microsoft.com/office/powerpoint/2010/main" val="487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E8932F-87E0-DCFF-AC72-F1A12429993A}"/>
              </a:ext>
            </a:extLst>
          </p:cNvPr>
          <p:cNvSpPr>
            <a:spLocks noGrp="1"/>
          </p:cNvSpPr>
          <p:nvPr/>
        </p:nvSpPr>
        <p:spPr>
          <a:xfrm>
            <a:off x="10515600" y="279400"/>
            <a:ext cx="1143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475569"/>
                </a:solidFill>
                <a:latin typeface="Yu Gothic"/>
                <a:ea typeface="Yu Gothic"/>
                <a:cs typeface="Yu Gothic"/>
              </a:rPr>
              <a:t>7 / 8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2908C7-00AC-5031-370E-4E688669C021}"/>
              </a:ext>
            </a:extLst>
          </p:cNvPr>
          <p:cNvSpPr>
            <a:spLocks noGrp="1"/>
          </p:cNvSpPr>
          <p:nvPr/>
        </p:nvSpPr>
        <p:spPr>
          <a:xfrm>
            <a:off x="533400" y="317500"/>
            <a:ext cx="9715500" cy="44114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200" b="1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下流分類器の学習用Notebookを作成し、データ確認を進めた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FDB7D5-110C-24D5-5AD8-AE4281875171}"/>
              </a:ext>
            </a:extLst>
          </p:cNvPr>
          <p:cNvSpPr>
            <a:spLocks noGrp="1"/>
          </p:cNvSpPr>
          <p:nvPr/>
        </p:nvSpPr>
        <p:spPr>
          <a:xfrm>
            <a:off x="533400" y="1117600"/>
            <a:ext cx="11125200" cy="25400"/>
          </a:xfrm>
          <a:prstGeom prst="rect">
            <a:avLst/>
          </a:prstGeom>
          <a:gradFill rotWithShape="1">
            <a:gsLst>
              <a:gs pos="0">
                <a:srgbClr val="E2E8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E0DD526-8461-110B-F955-BC9DF713F56B}"/>
              </a:ext>
            </a:extLst>
          </p:cNvPr>
          <p:cNvSpPr>
            <a:spLocks noGrp="1"/>
          </p:cNvSpPr>
          <p:nvPr/>
        </p:nvSpPr>
        <p:spPr>
          <a:xfrm>
            <a:off x="914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A03C9C-6DD9-FB97-7820-6EBE47D09781}"/>
              </a:ext>
            </a:extLst>
          </p:cNvPr>
          <p:cNvSpPr>
            <a:spLocks noGrp="1"/>
          </p:cNvSpPr>
          <p:nvPr/>
        </p:nvSpPr>
        <p:spPr>
          <a:xfrm>
            <a:off x="660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感情分類，</a:t>
            </a:r>
            <a:r>
              <a:rPr lang="en-US" altLang="ja-JP"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vad</a:t>
            </a: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それぞれを出力するモデルを作成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12B42B7C-2C81-F829-70DA-15308F16FF2B}"/>
              </a:ext>
            </a:extLst>
          </p:cNvPr>
          <p:cNvSpPr>
            <a:spLocks noGrp="1"/>
          </p:cNvSpPr>
          <p:nvPr/>
        </p:nvSpPr>
        <p:spPr>
          <a:xfrm>
            <a:off x="2895600" y="3263900"/>
            <a:ext cx="482600" cy="228600"/>
          </a:xfrm>
          <a:prstGeom prst="rightArrow">
            <a:avLst/>
          </a:prstGeom>
          <a:gradFill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9C35AF2-4D2C-0EE5-54F4-938EF54EA2F8}"/>
              </a:ext>
            </a:extLst>
          </p:cNvPr>
          <p:cNvSpPr>
            <a:spLocks noGrp="1"/>
          </p:cNvSpPr>
          <p:nvPr/>
        </p:nvSpPr>
        <p:spPr>
          <a:xfrm>
            <a:off x="3581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ECFD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0E749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059BED-5B2E-E701-2C3B-8D1EE4E6FC23}"/>
              </a:ext>
            </a:extLst>
          </p:cNvPr>
          <p:cNvSpPr>
            <a:spLocks noGrp="1"/>
          </p:cNvSpPr>
          <p:nvPr/>
        </p:nvSpPr>
        <p:spPr>
          <a:xfrm>
            <a:off x="3327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/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学習用</a:t>
            </a:r>
            <a:r>
              <a:rPr lang="en-US" altLang="ja-JP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Notebook</a:t>
            </a: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作成</a:t>
            </a:r>
          </a:p>
          <a:p>
            <a:pPr algn="ctr">
              <a:buNone/>
            </a:pP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E81478F-336A-D8EC-CCDD-205CAB67F3ED}"/>
              </a:ext>
            </a:extLst>
          </p:cNvPr>
          <p:cNvSpPr>
            <a:spLocks noGrp="1"/>
          </p:cNvSpPr>
          <p:nvPr/>
        </p:nvSpPr>
        <p:spPr>
          <a:xfrm>
            <a:off x="5562600" y="3263900"/>
            <a:ext cx="482600" cy="228600"/>
          </a:xfrm>
          <a:prstGeom prst="rightArrow">
            <a:avLst/>
          </a:prstGeom>
          <a:gradFill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AFDAF72-8625-0C3C-9C0D-66B6C2D50632}"/>
              </a:ext>
            </a:extLst>
          </p:cNvPr>
          <p:cNvSpPr>
            <a:spLocks noGrp="1"/>
          </p:cNvSpPr>
          <p:nvPr/>
        </p:nvSpPr>
        <p:spPr>
          <a:xfrm>
            <a:off x="6248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FFFBE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B45309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98AA4B-D2D8-774F-06A2-0598B5964CE6}"/>
              </a:ext>
            </a:extLst>
          </p:cNvPr>
          <p:cNvSpPr>
            <a:spLocks noGrp="1"/>
          </p:cNvSpPr>
          <p:nvPr/>
        </p:nvSpPr>
        <p:spPr>
          <a:xfrm>
            <a:off x="5994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感情ラベル</a:t>
            </a:r>
          </a:p>
          <a:p>
            <a:pPr algn="ctr">
              <a:buNone/>
            </a:pPr>
            <a:r>
              <a:rPr sz="1700" b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対応候補を整理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2133DDA1-E869-07CA-69E4-BDC09FEEE35A}"/>
              </a:ext>
            </a:extLst>
          </p:cNvPr>
          <p:cNvSpPr>
            <a:spLocks noGrp="1"/>
          </p:cNvSpPr>
          <p:nvPr/>
        </p:nvSpPr>
        <p:spPr>
          <a:xfrm>
            <a:off x="8229600" y="3263900"/>
            <a:ext cx="482600" cy="228600"/>
          </a:xfrm>
          <a:prstGeom prst="rightArrow">
            <a:avLst/>
          </a:prstGeom>
          <a:gradFill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F31CA9E-17F4-ECFC-6AA3-3BB820070660}"/>
              </a:ext>
            </a:extLst>
          </p:cNvPr>
          <p:cNvSpPr>
            <a:spLocks noGrp="1"/>
          </p:cNvSpPr>
          <p:nvPr/>
        </p:nvSpPr>
        <p:spPr>
          <a:xfrm>
            <a:off x="8915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F0FDF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16653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9DC275-1622-2858-899B-3B6945AAE8B4}"/>
              </a:ext>
            </a:extLst>
          </p:cNvPr>
          <p:cNvSpPr>
            <a:spLocks noGrp="1"/>
          </p:cNvSpPr>
          <p:nvPr/>
        </p:nvSpPr>
        <p:spPr>
          <a:xfrm>
            <a:off x="8661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動作確認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D8414B6-C1C9-C294-A4F0-FC3E63C74506}"/>
              </a:ext>
            </a:extLst>
          </p:cNvPr>
          <p:cNvSpPr>
            <a:spLocks noGrp="1"/>
          </p:cNvSpPr>
          <p:nvPr/>
        </p:nvSpPr>
        <p:spPr>
          <a:xfrm>
            <a:off x="2851150" y="4800600"/>
            <a:ext cx="2540000" cy="73660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確認済み</a:t>
            </a:r>
          </a:p>
          <a:p>
            <a:pPr algn="ctr">
              <a:buNone/>
            </a:pPr>
            <a:r>
              <a:rPr sz="1700" b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学習手順とデータ構造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40D9C5B-B6AC-16AE-E93F-F586760F71D6}"/>
              </a:ext>
            </a:extLst>
          </p:cNvPr>
          <p:cNvSpPr>
            <a:spLocks noGrp="1"/>
          </p:cNvSpPr>
          <p:nvPr/>
        </p:nvSpPr>
        <p:spPr>
          <a:xfrm>
            <a:off x="6094412" y="4800600"/>
            <a:ext cx="2540000" cy="736600"/>
          </a:xfrm>
          <a:prstGeom prst="rect">
            <a:avLst/>
          </a:prstGeom>
          <a:gradFill rotWithShape="1">
            <a:gsLst>
              <a:gs pos="0">
                <a:srgbClr val="ECFD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未測定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Base / </a:t>
            </a:r>
            <a:r>
              <a:rPr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Large実性能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80720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E8932F-87E0-DCFF-AC72-F1A12429993A}"/>
              </a:ext>
            </a:extLst>
          </p:cNvPr>
          <p:cNvSpPr>
            <a:spLocks noGrp="1"/>
          </p:cNvSpPr>
          <p:nvPr/>
        </p:nvSpPr>
        <p:spPr>
          <a:xfrm>
            <a:off x="10515600" y="279400"/>
            <a:ext cx="1143000" cy="287258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475569"/>
                </a:solidFill>
                <a:latin typeface="Yu Gothic"/>
                <a:ea typeface="Yu Gothic"/>
                <a:cs typeface="Yu Gothic"/>
              </a:rPr>
              <a:t>8 / 8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2908C7-00AC-5031-370E-4E688669C021}"/>
              </a:ext>
            </a:extLst>
          </p:cNvPr>
          <p:cNvSpPr>
            <a:spLocks noGrp="1"/>
          </p:cNvSpPr>
          <p:nvPr/>
        </p:nvSpPr>
        <p:spPr>
          <a:xfrm>
            <a:off x="533400" y="317500"/>
            <a:ext cx="9715500" cy="441146"/>
          </a:xfrm>
          <a:prstGeom prst="rect">
            <a:avLst/>
          </a:prstGeom>
          <a:noFill/>
        </p:spPr>
        <p:txBody>
          <a:bodyPr vert="horz" wrap="square" lIns="88900" tIns="50800" rIns="88900" bIns="50800">
            <a:spAutoFit/>
          </a:bodyPr>
          <a:lstStyle/>
          <a:p>
            <a:r>
              <a:rPr sz="2200" b="1">
                <a:solidFill>
                  <a:srgbClr val="152F50"/>
                </a:solidFill>
                <a:latin typeface="Yu Gothic"/>
                <a:ea typeface="Yu Gothic"/>
                <a:cs typeface="Yu Gothic"/>
              </a:rPr>
              <a:t>次は実データによる4条件比較で研究目的を判定する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FDB7D5-110C-24D5-5AD8-AE4281875171}"/>
              </a:ext>
            </a:extLst>
          </p:cNvPr>
          <p:cNvSpPr>
            <a:spLocks noGrp="1"/>
          </p:cNvSpPr>
          <p:nvPr/>
        </p:nvSpPr>
        <p:spPr>
          <a:xfrm>
            <a:off x="533400" y="1117600"/>
            <a:ext cx="11125200" cy="25400"/>
          </a:xfrm>
          <a:prstGeom prst="rect">
            <a:avLst/>
          </a:prstGeom>
          <a:gradFill rotWithShape="1">
            <a:gsLst>
              <a:gs pos="0">
                <a:srgbClr val="E2E8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E0DD526-8461-110B-F955-BC9DF713F56B}"/>
              </a:ext>
            </a:extLst>
          </p:cNvPr>
          <p:cNvSpPr>
            <a:spLocks noGrp="1"/>
          </p:cNvSpPr>
          <p:nvPr/>
        </p:nvSpPr>
        <p:spPr>
          <a:xfrm>
            <a:off x="914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2563EB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7A03C9C-6DD9-FB97-7820-6EBE47D09781}"/>
              </a:ext>
            </a:extLst>
          </p:cNvPr>
          <p:cNvSpPr>
            <a:spLocks noGrp="1"/>
          </p:cNvSpPr>
          <p:nvPr/>
        </p:nvSpPr>
        <p:spPr>
          <a:xfrm>
            <a:off x="660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lang="en-US" altLang="ja-JP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IEMOCAP</a:t>
            </a: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で</a:t>
            </a:r>
          </a:p>
          <a:p>
            <a:pPr algn="ctr">
              <a:buNone/>
            </a:pP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分類器を学習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12B42B7C-2C81-F829-70DA-15308F16FF2B}"/>
              </a:ext>
            </a:extLst>
          </p:cNvPr>
          <p:cNvSpPr>
            <a:spLocks noGrp="1"/>
          </p:cNvSpPr>
          <p:nvPr/>
        </p:nvSpPr>
        <p:spPr>
          <a:xfrm>
            <a:off x="2895600" y="3263900"/>
            <a:ext cx="482600" cy="228600"/>
          </a:xfrm>
          <a:prstGeom prst="rightArrow">
            <a:avLst/>
          </a:prstGeom>
          <a:gradFill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9C35AF2-4D2C-0EE5-54F4-938EF54EA2F8}"/>
              </a:ext>
            </a:extLst>
          </p:cNvPr>
          <p:cNvSpPr>
            <a:spLocks noGrp="1"/>
          </p:cNvSpPr>
          <p:nvPr/>
        </p:nvSpPr>
        <p:spPr>
          <a:xfrm>
            <a:off x="3581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ECFDF5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0E7490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059BED-5B2E-E701-2C3B-8D1EE4E6FC23}"/>
              </a:ext>
            </a:extLst>
          </p:cNvPr>
          <p:cNvSpPr>
            <a:spLocks noGrp="1"/>
          </p:cNvSpPr>
          <p:nvPr/>
        </p:nvSpPr>
        <p:spPr>
          <a:xfrm>
            <a:off x="3327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HCUDBで</a:t>
            </a:r>
            <a:endParaRPr lang="en-US"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分類器を学習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E81478F-336A-D8EC-CCDD-205CAB67F3ED}"/>
              </a:ext>
            </a:extLst>
          </p:cNvPr>
          <p:cNvSpPr>
            <a:spLocks noGrp="1"/>
          </p:cNvSpPr>
          <p:nvPr/>
        </p:nvSpPr>
        <p:spPr>
          <a:xfrm>
            <a:off x="5562600" y="3263900"/>
            <a:ext cx="482600" cy="228600"/>
          </a:xfrm>
          <a:prstGeom prst="rightArrow">
            <a:avLst/>
          </a:prstGeom>
          <a:gradFill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AFDAF72-8625-0C3C-9C0D-66B6C2D50632}"/>
              </a:ext>
            </a:extLst>
          </p:cNvPr>
          <p:cNvSpPr>
            <a:spLocks noGrp="1"/>
          </p:cNvSpPr>
          <p:nvPr/>
        </p:nvSpPr>
        <p:spPr>
          <a:xfrm>
            <a:off x="6248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FFFBE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B45309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98AA4B-D2D8-774F-06A2-0598B5964CE6}"/>
              </a:ext>
            </a:extLst>
          </p:cNvPr>
          <p:cNvSpPr>
            <a:spLocks noGrp="1"/>
          </p:cNvSpPr>
          <p:nvPr/>
        </p:nvSpPr>
        <p:spPr>
          <a:xfrm>
            <a:off x="5994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Base / </a:t>
            </a:r>
            <a:r>
              <a:rPr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Large比較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2133DDA1-E869-07CA-69E4-BDC09FEEE35A}"/>
              </a:ext>
            </a:extLst>
          </p:cNvPr>
          <p:cNvSpPr>
            <a:spLocks noGrp="1"/>
          </p:cNvSpPr>
          <p:nvPr/>
        </p:nvSpPr>
        <p:spPr>
          <a:xfrm>
            <a:off x="8229600" y="3263900"/>
            <a:ext cx="482600" cy="228600"/>
          </a:xfrm>
          <a:prstGeom prst="rightArrow">
            <a:avLst/>
          </a:prstGeom>
          <a:gradFill rotWithShape="1">
            <a:gsLst>
              <a:gs pos="0">
                <a:srgbClr val="47556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mpd="sng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F31CA9E-17F4-ECFC-6AA3-3BB820070660}"/>
              </a:ext>
            </a:extLst>
          </p:cNvPr>
          <p:cNvSpPr>
            <a:spLocks noGrp="1"/>
          </p:cNvSpPr>
          <p:nvPr/>
        </p:nvSpPr>
        <p:spPr>
          <a:xfrm>
            <a:off x="8915400" y="1727200"/>
            <a:ext cx="685800" cy="685800"/>
          </a:xfrm>
          <a:prstGeom prst="roundRect">
            <a:avLst/>
          </a:prstGeom>
          <a:gradFill rotWithShape="1">
            <a:gsLst>
              <a:gs pos="0">
                <a:srgbClr val="F0FDF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2400" b="1">
                <a:solidFill>
                  <a:srgbClr val="16653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9DC275-1622-2858-899B-3B6945AAE8B4}"/>
              </a:ext>
            </a:extLst>
          </p:cNvPr>
          <p:cNvSpPr>
            <a:spLocks noGrp="1"/>
          </p:cNvSpPr>
          <p:nvPr/>
        </p:nvSpPr>
        <p:spPr>
          <a:xfrm>
            <a:off x="8661400" y="2743200"/>
            <a:ext cx="2108200" cy="1193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sz="1700" b="1" dirty="0" err="1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目的達成を判定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D8414B6-C1C9-C294-A4F0-FC3E63C74506}"/>
              </a:ext>
            </a:extLst>
          </p:cNvPr>
          <p:cNvSpPr>
            <a:spLocks noGrp="1"/>
          </p:cNvSpPr>
          <p:nvPr/>
        </p:nvSpPr>
        <p:spPr>
          <a:xfrm>
            <a:off x="4394200" y="4800600"/>
            <a:ext cx="2540000" cy="73660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anchor="ctr"/>
          <a:lstStyle/>
          <a:p>
            <a:pPr algn="ctr">
              <a:buNone/>
            </a:pPr>
            <a:r>
              <a:rPr lang="ja-JP" altLang="en-US"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評価</a:t>
            </a:r>
            <a:endParaRPr sz="1700" b="1" dirty="0">
              <a:solidFill>
                <a:srgbClr val="1E293B"/>
              </a:solidFill>
              <a:latin typeface="Yu Gothic"/>
              <a:ea typeface="Yu Gothic"/>
              <a:cs typeface="Yu Gothic"/>
            </a:endParaRPr>
          </a:p>
          <a:p>
            <a:pPr algn="ctr">
              <a:buNone/>
            </a:pPr>
            <a:r>
              <a:rPr sz="1700" b="1" dirty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macro F1 / UA</a:t>
            </a:r>
          </a:p>
        </p:txBody>
      </p:sp>
    </p:spTree>
    <p:extLst>
      <p:ext uri="{BB962C8B-B14F-4D97-AF65-F5344CB8AC3E}">
        <p14:creationId xmlns:p14="http://schemas.microsoft.com/office/powerpoint/2010/main" val="178072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792</Words>
  <Application>Microsoft Office PowerPoint</Application>
  <DocSecurity>0</DocSecurity>
  <PresentationFormat>ユーザー設定</PresentationFormat>
  <Paragraphs>120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AKIYAMA KANATA</cp:lastModifiedBy>
  <cp:revision>4</cp:revision>
  <dcterms:created xsi:type="dcterms:W3CDTF">2026-08-05T15:14:48Z</dcterms:created>
  <dcterms:modified xsi:type="dcterms:W3CDTF">2026-08-06T00:22:13Z</dcterms:modified>
</cp:coreProperties>
</file>